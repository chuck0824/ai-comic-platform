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2b03d197f349bd" /><Relationship Type="http://schemas.openxmlformats.org/officeDocument/2006/relationships/extended-properties" Target="/docProps/app.xml" Id="Re25b28749e804f32" /><Relationship Type="http://schemas.openxmlformats.org/officeDocument/2006/relationships/officeDocument" Target="/ppt/presentation.xml" Id="Rbf3517372223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04c51802174140"/>
  </p:sldMasterIdLst>
  <p:notesMasterIdLst>
    <p:notesMasterId xmlns:r="http://schemas.openxmlformats.org/officeDocument/2006/relationships" r:id="R211dc3c535164f36"/>
  </p:notesMasterIdLst>
  <p:sldIdLst>
    <p:sldId xmlns:r="http://schemas.openxmlformats.org/officeDocument/2006/relationships" id="256" r:id="Rab99449bb43c4dce"/>
    <p:sldId xmlns:r="http://schemas.openxmlformats.org/officeDocument/2006/relationships" id="257" r:id="Ra2a5d96358ff4b8f"/>
    <p:sldId xmlns:r="http://schemas.openxmlformats.org/officeDocument/2006/relationships" id="258" r:id="R0c3434a4bfb54a67"/>
    <p:sldId xmlns:r="http://schemas.openxmlformats.org/officeDocument/2006/relationships" id="259" r:id="R8493685e37854ce9"/>
    <p:sldId xmlns:r="http://schemas.openxmlformats.org/officeDocument/2006/relationships" id="260" r:id="R39ed36970bf349b1"/>
    <p:sldId xmlns:r="http://schemas.openxmlformats.org/officeDocument/2006/relationships" id="261" r:id="R14387c88f11f45e1"/>
    <p:sldId xmlns:r="http://schemas.openxmlformats.org/officeDocument/2006/relationships" id="262" r:id="R459c69ac5d9e4976"/>
    <p:sldId xmlns:r="http://schemas.openxmlformats.org/officeDocument/2006/relationships" id="263" r:id="Rba5eeac423cd4b75"/>
    <p:sldId xmlns:r="http://schemas.openxmlformats.org/officeDocument/2006/relationships" id="264" r:id="Rcbc59a6ac61a48f4"/>
    <p:sldId xmlns:r="http://schemas.openxmlformats.org/officeDocument/2006/relationships" id="265" r:id="Rbf0aa8a0461e4423"/>
    <p:sldId xmlns:r="http://schemas.openxmlformats.org/officeDocument/2006/relationships" id="266" r:id="Rcb41f933c6984b56"/>
    <p:sldId xmlns:r="http://schemas.openxmlformats.org/officeDocument/2006/relationships" id="267" r:id="R616187f982a140a2"/>
    <p:sldId xmlns:r="http://schemas.openxmlformats.org/officeDocument/2006/relationships" id="268" r:id="Rb2ad08f42c724a93"/>
    <p:sldId xmlns:r="http://schemas.openxmlformats.org/officeDocument/2006/relationships" id="269" r:id="R59b3aa565c434184"/>
    <p:sldId xmlns:r="http://schemas.openxmlformats.org/officeDocument/2006/relationships" id="270" r:id="R1f81ffae7fea463f"/>
    <p:sldId xmlns:r="http://schemas.openxmlformats.org/officeDocument/2006/relationships" id="271" r:id="Rac2029e4bd9f4bd4"/>
    <p:sldId xmlns:r="http://schemas.openxmlformats.org/officeDocument/2006/relationships" id="272" r:id="Rcbdb39f2fcda4ea4"/>
    <p:sldId xmlns:r="http://schemas.openxmlformats.org/officeDocument/2006/relationships" id="273" r:id="Ra365bc6c344f4002"/>
    <p:sldId xmlns:r="http://schemas.openxmlformats.org/officeDocument/2006/relationships" id="274" r:id="R7838e22108f24e2a"/>
    <p:sldId xmlns:r="http://schemas.openxmlformats.org/officeDocument/2006/relationships" id="275" r:id="Re5eeee8832244f1d"/>
    <p:sldId xmlns:r="http://schemas.openxmlformats.org/officeDocument/2006/relationships" id="276" r:id="Rb89fe28c58d446ca"/>
    <p:sldId xmlns:r="http://schemas.openxmlformats.org/officeDocument/2006/relationships" id="277" r:id="R6798d63f459449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690eb6207457b" /><Relationship Type="http://schemas.openxmlformats.org/officeDocument/2006/relationships/slideMaster" Target="/ppt/slideMasters/slideMaster1.xml" Id="R9404c51802174140" /><Relationship Type="http://schemas.openxmlformats.org/officeDocument/2006/relationships/notesMaster" Target="/ppt/notesMasters/notesMaster1.xml" Id="R211dc3c535164f36" /><Relationship Type="http://schemas.openxmlformats.org/officeDocument/2006/relationships/presProps" Target="/ppt/presProps.xml" Id="R40998ccc149941f1" /><Relationship Type="http://schemas.openxmlformats.org/officeDocument/2006/relationships/tableStyles" Target="/ppt/tableStyles.xml" Id="R081133bf3fe94493" /><Relationship Type="http://schemas.openxmlformats.org/officeDocument/2006/relationships/slide" Target="/ppt/slides/slide1.xml" Id="Rab99449bb43c4dce" /><Relationship Type="http://schemas.openxmlformats.org/officeDocument/2006/relationships/slide" Target="/ppt/slides/slide2.xml" Id="Ra2a5d96358ff4b8f" /><Relationship Type="http://schemas.openxmlformats.org/officeDocument/2006/relationships/slide" Target="/ppt/slides/slide3.xml" Id="R0c3434a4bfb54a67" /><Relationship Type="http://schemas.openxmlformats.org/officeDocument/2006/relationships/slide" Target="/ppt/slides/slide4.xml" Id="R8493685e37854ce9" /><Relationship Type="http://schemas.openxmlformats.org/officeDocument/2006/relationships/slide" Target="/ppt/slides/slide5.xml" Id="R39ed36970bf349b1" /><Relationship Type="http://schemas.openxmlformats.org/officeDocument/2006/relationships/slide" Target="/ppt/slides/slide6.xml" Id="R14387c88f11f45e1" /><Relationship Type="http://schemas.openxmlformats.org/officeDocument/2006/relationships/slide" Target="/ppt/slides/slide7.xml" Id="R459c69ac5d9e4976" /><Relationship Type="http://schemas.openxmlformats.org/officeDocument/2006/relationships/slide" Target="/ppt/slides/slide8.xml" Id="Rba5eeac423cd4b75" /><Relationship Type="http://schemas.openxmlformats.org/officeDocument/2006/relationships/slide" Target="/ppt/slides/slide9.xml" Id="Rcbc59a6ac61a48f4" /><Relationship Type="http://schemas.openxmlformats.org/officeDocument/2006/relationships/slide" Target="/ppt/slides/slide10.xml" Id="Rbf0aa8a0461e4423" /><Relationship Type="http://schemas.openxmlformats.org/officeDocument/2006/relationships/slide" Target="/ppt/slides/slide11.xml" Id="Rcb41f933c6984b56" /><Relationship Type="http://schemas.openxmlformats.org/officeDocument/2006/relationships/slide" Target="/ppt/slides/slide12.xml" Id="R616187f982a140a2" /><Relationship Type="http://schemas.openxmlformats.org/officeDocument/2006/relationships/slide" Target="/ppt/slides/slide13.xml" Id="Rb2ad08f42c724a93" /><Relationship Type="http://schemas.openxmlformats.org/officeDocument/2006/relationships/slide" Target="/ppt/slides/slide14.xml" Id="R59b3aa565c434184" /><Relationship Type="http://schemas.openxmlformats.org/officeDocument/2006/relationships/slide" Target="/ppt/slides/slide15.xml" Id="R1f81ffae7fea463f" /><Relationship Type="http://schemas.openxmlformats.org/officeDocument/2006/relationships/slide" Target="/ppt/slides/slide16.xml" Id="Rac2029e4bd9f4bd4" /><Relationship Type="http://schemas.openxmlformats.org/officeDocument/2006/relationships/slide" Target="/ppt/slides/slide17.xml" Id="Rcbdb39f2fcda4ea4" /><Relationship Type="http://schemas.openxmlformats.org/officeDocument/2006/relationships/slide" Target="/ppt/slides/slide18.xml" Id="Ra365bc6c344f4002" /><Relationship Type="http://schemas.openxmlformats.org/officeDocument/2006/relationships/slide" Target="/ppt/slides/slide19.xml" Id="R7838e22108f24e2a" /><Relationship Type="http://schemas.openxmlformats.org/officeDocument/2006/relationships/slide" Target="/ppt/slides/slide20.xml" Id="Re5eeee8832244f1d" /><Relationship Type="http://schemas.openxmlformats.org/officeDocument/2006/relationships/slide" Target="/ppt/slides/slide21.xml" Id="Rb89fe28c58d446ca" /><Relationship Type="http://schemas.openxmlformats.org/officeDocument/2006/relationships/slide" Target="/ppt/slides/slide22.xml" Id="R6798d63f459449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ff3c707df145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5ebf837c2545ec" /><Relationship Type="http://schemas.openxmlformats.org/officeDocument/2006/relationships/notesMaster" Target="/ppt/notesMasters/notesMaster1.xml" Id="R82aac2e12a2640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c6978f6d14032" /><Relationship Type="http://schemas.openxmlformats.org/officeDocument/2006/relationships/notesMaster" Target="/ppt/notesMasters/notesMaster1.xml" Id="R5f881550cbaf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222c7c5934a53" /><Relationship Type="http://schemas.openxmlformats.org/officeDocument/2006/relationships/notesMaster" Target="/ppt/notesMasters/notesMaster1.xml" Id="R9112fa2eb17b40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fd9b937444531" /><Relationship Type="http://schemas.openxmlformats.org/officeDocument/2006/relationships/notesMaster" Target="/ppt/notesMasters/notesMaster1.xml" Id="Rc917b9414d0841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d109a490c54009" /><Relationship Type="http://schemas.openxmlformats.org/officeDocument/2006/relationships/notesMaster" Target="/ppt/notesMasters/notesMaster1.xml" Id="R73e8b9e8163c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cc40c5d1234447" /><Relationship Type="http://schemas.openxmlformats.org/officeDocument/2006/relationships/notesMaster" Target="/ppt/notesMasters/notesMaster1.xml" Id="R3a733fa52a4546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def2834c544118" /><Relationship Type="http://schemas.openxmlformats.org/officeDocument/2006/relationships/notesMaster" Target="/ppt/notesMasters/notesMaster1.xml" Id="Re37e1fe03fa5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ab398e1f8740d9" /><Relationship Type="http://schemas.openxmlformats.org/officeDocument/2006/relationships/notesMaster" Target="/ppt/notesMasters/notesMaster1.xml" Id="R57cc948ba62142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10552d43fd4bb4" /><Relationship Type="http://schemas.openxmlformats.org/officeDocument/2006/relationships/notesMaster" Target="/ppt/notesMasters/notesMaster1.xml" Id="Rf27b9c13127d46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a10949f1bd48ad" /><Relationship Type="http://schemas.openxmlformats.org/officeDocument/2006/relationships/notesMaster" Target="/ppt/notesMasters/notesMaster1.xml" Id="R497f15751dd04c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a4d3ea36ca4908" /><Relationship Type="http://schemas.openxmlformats.org/officeDocument/2006/relationships/notesMaster" Target="/ppt/notesMasters/notesMaster1.xml" Id="Rca0bf63f303d4b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f32f21ecd4add" /><Relationship Type="http://schemas.openxmlformats.org/officeDocument/2006/relationships/notesMaster" Target="/ppt/notesMasters/notesMaster1.xml" Id="Rae1cb40c1f834e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a17667706f4114" /><Relationship Type="http://schemas.openxmlformats.org/officeDocument/2006/relationships/notesMaster" Target="/ppt/notesMasters/notesMaster1.xml" Id="R66c15b5ca0064e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9e10551c0d4901" /><Relationship Type="http://schemas.openxmlformats.org/officeDocument/2006/relationships/notesMaster" Target="/ppt/notesMasters/notesMaster1.xml" Id="Rb87ef6ed4f3e45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84e901a4234501" /><Relationship Type="http://schemas.openxmlformats.org/officeDocument/2006/relationships/notesMaster" Target="/ppt/notesMasters/notesMaster1.xml" Id="R16d1b1fce08245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fcb5f002d04619" /><Relationship Type="http://schemas.openxmlformats.org/officeDocument/2006/relationships/notesMaster" Target="/ppt/notesMasters/notesMaster1.xml" Id="R0d4977c1cde948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ff8eef144a46d6" /><Relationship Type="http://schemas.openxmlformats.org/officeDocument/2006/relationships/notesMaster" Target="/ppt/notesMasters/notesMaster1.xml" Id="Rdae0521fa09f43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7ef1810eb9407e" /><Relationship Type="http://schemas.openxmlformats.org/officeDocument/2006/relationships/notesMaster" Target="/ppt/notesMasters/notesMaster1.xml" Id="R09062aa4eb6342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fc6ec8905042c7" /><Relationship Type="http://schemas.openxmlformats.org/officeDocument/2006/relationships/notesMaster" Target="/ppt/notesMasters/notesMaster1.xml" Id="Rd19cbbb8a35444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bae7a07ac34ecd" /><Relationship Type="http://schemas.openxmlformats.org/officeDocument/2006/relationships/notesMaster" Target="/ppt/notesMasters/notesMaster1.xml" Id="R6c7fcb23ecf049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7bbc07ee254cc7" /><Relationship Type="http://schemas.openxmlformats.org/officeDocument/2006/relationships/notesMaster" Target="/ppt/notesMasters/notesMaster1.xml" Id="Reb894ba7952c4b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0a145099d74730" /><Relationship Type="http://schemas.openxmlformats.org/officeDocument/2006/relationships/notesMaster" Target="/ppt/notesMasters/notesMaster1.xml" Id="Rad80b3567ed545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页面目的：开场建立认知：本项目不是单一AI工具，也不是泛AI平台，而是先做AI漫剧内容业务，再把生产流程沉淀为OPC线上AI漫剧制作平台。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第一条主线：AI漫剧内容业务，跑通剧本、成片、投放、变现。</a:t>
            </a:r>
          </a:p>
          <a:p xmlns:a="http://schemas.openxmlformats.org/drawingml/2006/main">
            <a:r>
              <a:t>- 第二条主线：OPC制作平台，沉淀线上AI漫剧生产工具。</a:t>
            </a:r>
          </a:p>
          <a:p xmlns:a="http://schemas.openxmlformats.org/drawingml/2006/main">
            <a:r>
              <a:t>- 内容业务负责验证市场，平台业务负责复制能力。</a:t>
            </a:r>
          </a:p>
          <a:p xmlns:a="http://schemas.openxmlformats.org/drawingml/2006/main">
            <a:r>
              <a:t>- 后续再延伸到数字人、APP开发、跨境选品等OPC产品聚合。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本项目当前最核心的是两件事。第一件事是做AI漫剧内容业务，重点回答剧本怎么来、成片怎么做、投放到哪里、投放后怎么赚钱。第二件事是做OPC线上AI漫剧制作平台，重点回答平台要做哪些功能、用户为什么付费、平台如何通过Token、培训、模板、交易和承制撮合变现。</a:t>
            </a:r>
          </a:p>
          <a:p xmlns:a="http://schemas.openxmlformats.org/drawingml/2006/main">
            <a:r>
              <a:t>这两条线不是割裂关系。内容团队先用平台生产样片，跑出可复制SOP；平台再把SOP变成工具、模板、资产、课程和交易服务。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视觉与版式建议：使用“双主线结构图”：左侧为AI漫剧内容业务，右侧为OPC制作平台，中间用“剧本、资产、模板、数据、SOP”连接。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AI漫剧样片数量</a:t>
            </a:r>
          </a:p>
          <a:p xmlns:a="http://schemas.openxmlformats.org/drawingml/2006/main">
            <a:r>
              <a:t>- 单集生产成本</a:t>
            </a:r>
          </a:p>
          <a:p xmlns:a="http://schemas.openxmlformats.org/drawingml/2006/main">
            <a:r>
              <a:t>- 投放ROI</a:t>
            </a:r>
          </a:p>
          <a:p xmlns:a="http://schemas.openxmlformats.org/drawingml/2006/main">
            <a:r>
              <a:t>- 平台功能完成率</a:t>
            </a:r>
          </a:p>
          <a:p xmlns:a="http://schemas.openxmlformats.org/drawingml/2006/main">
            <a:r>
              <a:t>- 模板和资产沉淀数量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第一页只讲总体框架，不要过早展开数字人、APP开发、跨境选品，避免主线发散。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页面目的：明确项目推进顺序：先通过AI漫剧内容业务验证闭环，再把有效流程产品化为OPC平台能力。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先做内容闭环，再做平台放大。</a:t>
            </a:r>
          </a:p>
          <a:p xmlns:a="http://schemas.openxmlformats.org/drawingml/2006/main">
            <a:r>
              <a:t>- 先验证剧本、成片、投放、变现，再开放工具。</a:t>
            </a:r>
          </a:p>
          <a:p xmlns:a="http://schemas.openxmlformats.org/drawingml/2006/main">
            <a:r>
              <a:t>- 没有样片和案例，平台很难销售。</a:t>
            </a:r>
          </a:p>
          <a:p xmlns:a="http://schemas.openxmlformats.org/drawingml/2006/main">
            <a:r>
              <a:t>- 有了SOP和数据，平台才具备商业化基础。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早期最重要的不是功能堆叠，而是验证一个最小商业闭环。AI漫剧行业的关键风险不是“能不能生成”，而是生成结果是否稳定、成本是否可控、内容是否能投放转化、团队是否能复制。</a:t>
            </a:r>
          </a:p>
          <a:p xmlns:a="http://schemas.openxmlformats.org/drawingml/2006/main">
            <a:r>
              <a:t>如果没有样片、案例、模板和数据，直接卖平台会变成“演示很好看，但用户不会用”。反过来，一旦内部跑出可复制的剧本模板、角色资产包、投放素材包和工作流模板，平台就自然具备培训、交易和SaaS订阅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视觉与版式建议：使用三阶段图：内容验证 → 平台工具化 → 生态交易化。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样片完成数量</a:t>
            </a:r>
          </a:p>
          <a:p xmlns:a="http://schemas.openxmlformats.org/drawingml/2006/main">
            <a:r>
              <a:t>- 单条样片投放数据</a:t>
            </a:r>
          </a:p>
          <a:p xmlns:a="http://schemas.openxmlformats.org/drawingml/2006/main">
            <a:r>
              <a:t>- SOP沉淀数量</a:t>
            </a:r>
          </a:p>
          <a:p xmlns:a="http://schemas.openxmlformats.org/drawingml/2006/main">
            <a:r>
              <a:t>- 可复用模板数量</a:t>
            </a:r>
          </a:p>
          <a:p xmlns:a="http://schemas.openxmlformats.org/drawingml/2006/main">
            <a:r>
              <a:t>- 平台内测用户转化率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这一页要强调项目节奏：不是一开始就做大平台，而是先用内容业务跑通可复制路径。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页面目的：说明为什么现在适合做AI漫剧，以及为什么需要OPC线上制作平台。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短剧、漫剧、短视频广告都需要高频内容供给。</a:t>
            </a:r>
          </a:p>
          <a:p xmlns:a="http://schemas.openxmlformats.org/drawingml/2006/main">
            <a:r>
              <a:t>- 传统制作成本高、周期长，难以支撑矩阵号测试。</a:t>
            </a:r>
          </a:p>
          <a:p xmlns:a="http://schemas.openxmlformats.org/drawingml/2006/main">
            <a:r>
              <a:t>- AI工具分散，创作者在多个工具间反复搬运。</a:t>
            </a:r>
          </a:p>
          <a:p xmlns:a="http://schemas.openxmlformats.org/drawingml/2006/main">
            <a:r>
              <a:t>- 行业缺少标准化资产、稳定角色和可追踪生产SOP。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短视频平台的竞争已经从单条爆款进入稳定供给和批量测试阶段。无论是短剧账号、小说推文、品牌内容、电商种草，还是本地生活内容，都需要低成本、高频率的内容生产。</a:t>
            </a:r>
          </a:p>
          <a:p xmlns:a="http://schemas.openxmlformats.org/drawingml/2006/main">
            <a:r>
              <a:t>但现阶段用户的工作流非常割裂。编剧工具只负责文本，生图工具只负责图片，视频工具只负责片段，剪辑工具只负责拼接。角色设定、场景图、提示词、模型参数和历史版本散落在不同地方，导致复用困难、协作困难、成本不可核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视觉与版式建议：使用“传统制作 vs AI工具分散 vs OPC平台化生产”三栏对比图。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单集制作周期</a:t>
            </a:r>
          </a:p>
          <a:p xmlns:a="http://schemas.openxmlformats.org/drawingml/2006/main">
            <a:r>
              <a:t>- 单集制作成本</a:t>
            </a:r>
          </a:p>
          <a:p xmlns:a="http://schemas.openxmlformats.org/drawingml/2006/main">
            <a:r>
              <a:t>- 工具切换次数</a:t>
            </a:r>
          </a:p>
          <a:p xmlns:a="http://schemas.openxmlformats.org/drawingml/2006/main">
            <a:r>
              <a:t>- 素材复用率</a:t>
            </a:r>
          </a:p>
          <a:p xmlns:a="http://schemas.openxmlformats.org/drawingml/2006/main">
            <a:r>
              <a:t>- 项目返工率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本页重点讲痛点，不要把OPC讲成泛AI工具，要围绕AI漫剧生产效率展开。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页面目的：说明AI漫剧内容业务和OPC平台业务如何互相促进。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内容业务产出案例、数据和SOP。</a:t>
            </a:r>
          </a:p>
          <a:p xmlns:a="http://schemas.openxmlformats.org/drawingml/2006/main">
            <a:r>
              <a:t>- OPC平台沉淀工具、资产和模板。</a:t>
            </a:r>
          </a:p>
          <a:p xmlns:a="http://schemas.openxmlformats.org/drawingml/2006/main">
            <a:r>
              <a:t>- 平台提升内容生产效率。</a:t>
            </a:r>
          </a:p>
          <a:p xmlns:a="http://schemas.openxmlformats.org/drawingml/2006/main">
            <a:r>
              <a:t>- 内容案例反向带动平台获客和培训转化。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AI漫剧内容业务是第一个飞轮。通过自营或代制作内容，平台可以验证题材、剧本、分镜、生产成本、投放数据和变现模型。</a:t>
            </a:r>
          </a:p>
          <a:p xmlns:a="http://schemas.openxmlformats.org/drawingml/2006/main">
            <a:r>
              <a:t>OPC平台是第二个飞轮。内容团队在生产中沉淀的剧本模板、角色资产、场景资产、分镜模板、工作流和投放经验，可以被产品化，变成平台功能、课程、模板包和交易商品。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视觉与版式建议：使用双飞轮图：左侧“内容业务飞轮”，右侧“平台业务飞轮”，中间连接“案例、SOP、资产、模板、数据”。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内容案例数量</a:t>
            </a:r>
          </a:p>
          <a:p xmlns:a="http://schemas.openxmlformats.org/drawingml/2006/main">
            <a:r>
              <a:t>- SOP标准化程度</a:t>
            </a:r>
          </a:p>
          <a:p xmlns:a="http://schemas.openxmlformats.org/drawingml/2006/main">
            <a:r>
              <a:t>- 平台复用资产数量</a:t>
            </a:r>
          </a:p>
          <a:p xmlns:a="http://schemas.openxmlformats.org/drawingml/2006/main">
            <a:r>
              <a:t>- 培训转化率</a:t>
            </a:r>
          </a:p>
          <a:p xmlns:a="http://schemas.openxmlformats.org/drawingml/2006/main">
            <a:r>
              <a:t>- 创作者注册数量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这一页要讲清楚内容不是单独赚钱，内容还承担平台冷启动和案例验证作用。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页面目的：回答第一件核心事情的前半段：AI漫剧剧本怎么生产。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输入：题材、人群、平台、集数、商业目标。</a:t>
            </a:r>
          </a:p>
          <a:p xmlns:a="http://schemas.openxmlformats.org/drawingml/2006/main">
            <a:r>
              <a:t>- 生成：选题、梗概、分集大纲、单集剧本。</a:t>
            </a:r>
          </a:p>
          <a:p xmlns:a="http://schemas.openxmlformats.org/drawingml/2006/main">
            <a:r>
              <a:t>- 拆解：人物、场景、冲突、对白、旁白、分镜。</a:t>
            </a:r>
          </a:p>
          <a:p xmlns:a="http://schemas.openxmlformats.org/drawingml/2006/main">
            <a:r>
              <a:t>- 输出：可直接进入生产的分镜脚本Master。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的剧本生产不能只生成一段故事，而要从一开始就面向生产。用户需要先明确题材、人群、投放平台、集数、每集时长和商业目标。平台再根据这些信息生成选题、故事梗概、分集大纲、单集剧本和分镜脚本。</a:t>
            </a:r>
          </a:p>
          <a:p xmlns:a="http://schemas.openxmlformats.org/drawingml/2006/main">
            <a:r>
              <a:t>真正能进入生产的不是文学剧本，而是分镜脚本Master。它需要包含镜号、时长、景别、画面动作、角色、对白、旁白、音效、字幕、图片Prompt、视频Prompt和资产引用。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视觉与版式建议：使用流程图：需求输入 → 题材标签 → 剧本生成 → 分集大纲 → 分镜脚本Master。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剧本生成通过率</a:t>
            </a:r>
          </a:p>
          <a:p xmlns:a="http://schemas.openxmlformats.org/drawingml/2006/main">
            <a:r>
              <a:t>- 单集剧本生成时间</a:t>
            </a:r>
          </a:p>
          <a:p xmlns:a="http://schemas.openxmlformats.org/drawingml/2006/main">
            <a:r>
              <a:t>- 分镜字段完整率</a:t>
            </a:r>
          </a:p>
          <a:p xmlns:a="http://schemas.openxmlformats.org/drawingml/2006/main">
            <a:r>
              <a:t>- 人工修改次数</a:t>
            </a:r>
          </a:p>
          <a:p xmlns:a="http://schemas.openxmlformats.org/drawingml/2006/main">
            <a:r>
              <a:t>- 剧本模板复用率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这一页要突出“剧本即生产指令”，不要只讲故事创作。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页面目的：定义适合短视频平台投放的AI漫剧剧本标准。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前3秒必须有钩子：冲突、悬念、反差、身份信息。</a:t>
            </a:r>
          </a:p>
          <a:p xmlns:a="http://schemas.openxmlformats.org/drawingml/2006/main">
            <a:r>
              <a:t>- 中段必须有情绪推进：误会、打脸、反转、拉扯。</a:t>
            </a:r>
          </a:p>
          <a:p xmlns:a="http://schemas.openxmlformats.org/drawingml/2006/main">
            <a:r>
              <a:t>- 结尾必须有动作：追更、评论、付费、点击、下单。</a:t>
            </a:r>
          </a:p>
          <a:p xmlns:a="http://schemas.openxmlformats.org/drawingml/2006/main">
            <a:r>
              <a:t>- 剧本必须结构化，才能进入AI生产流程。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不是普通小说，也不是传统长剧。它面向短视频平台，必须优先服务停留、完播、追更和转化。剧本需要在开头快速建立人物关系或冲突，中段通过误会、反转、身份揭露、情感拉扯等机制推动情绪，结尾留下下一集悬念或转化动作。</a:t>
            </a:r>
          </a:p>
          <a:p xmlns:a="http://schemas.openxmlformats.org/drawingml/2006/main">
            <a:r>
              <a:t>平台要把这些标准固化到剧本生成规则里，否则AI很容易生成“能读但不能投”的文本。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视觉与版式建议：使用“三段式剧本结构图”：开头钩子、中段情绪推进、结尾转化动作。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前3秒留存率</a:t>
            </a:r>
          </a:p>
          <a:p xmlns:a="http://schemas.openxmlformats.org/drawingml/2006/main">
            <a:r>
              <a:t>- 完播率</a:t>
            </a:r>
          </a:p>
          <a:p xmlns:a="http://schemas.openxmlformats.org/drawingml/2006/main">
            <a:r>
              <a:t>- 追更率</a:t>
            </a:r>
          </a:p>
          <a:p xmlns:a="http://schemas.openxmlformats.org/drawingml/2006/main">
            <a:r>
              <a:t>- 评论率</a:t>
            </a:r>
          </a:p>
          <a:p xmlns:a="http://schemas.openxmlformats.org/drawingml/2006/main">
            <a:r>
              <a:t>- 剧本质检通过率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本页重点不是讲编剧理论，而是讲平台为什么要有剧本标准和质检规则。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页面目的：回答第一件核心事情的后半段：剧本怎么做成成片。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锁定剧本版本，生成项目快照。</a:t>
            </a:r>
          </a:p>
          <a:p xmlns:a="http://schemas.openxmlformats.org/drawingml/2006/main">
            <a:r>
              <a:t>- 拆解角色、场景、镜头、对白、音效。</a:t>
            </a:r>
          </a:p>
          <a:p xmlns:a="http://schemas.openxmlformats.org/drawingml/2006/main">
            <a:r>
              <a:t>- 批量生成图片、视频、配音、字幕。</a:t>
            </a:r>
          </a:p>
          <a:p xmlns:a="http://schemas.openxmlformats.org/drawingml/2006/main">
            <a:r>
              <a:t>- 合成可投放成片，并记录版本和成本。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AI漫剧的成剧生产链路包括剧本锁稿、分镜拆解、角色设定、场景设定、图片生成、视频生成、配音、字幕、音效、剪辑合成和导出。平台需要让每个环节都可追踪、可重试、可复用。</a:t>
            </a:r>
          </a:p>
          <a:p xmlns:a="http://schemas.openxmlformats.org/drawingml/2006/main">
            <a:r>
              <a:t>成剧生产的难点不是某一张图好不好看，而是整集是否稳定。角色脸、服装、场景、声音、镜头节奏都必须保持一致。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视觉与版式建议：使用流水线图：剧本锁稿 → 分镜拆解 → 资产准备 → 图片生成 → 视频生成 → 配音字幕 → 成片导出。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单集生产时长</a:t>
            </a:r>
          </a:p>
          <a:p xmlns:a="http://schemas.openxmlformats.org/drawingml/2006/main">
            <a:r>
              <a:t>- 镜头生成成功率</a:t>
            </a:r>
          </a:p>
          <a:p xmlns:a="http://schemas.openxmlformats.org/drawingml/2006/main">
            <a:r>
              <a:t>- 视频生成失败率</a:t>
            </a:r>
          </a:p>
          <a:p xmlns:a="http://schemas.openxmlformats.org/drawingml/2006/main">
            <a:r>
              <a:t>- 单集平均成本</a:t>
            </a:r>
          </a:p>
          <a:p xmlns:a="http://schemas.openxmlformats.org/drawingml/2006/main">
            <a:r>
              <a:t>- 成片质检通过率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这一页要把AI漫剧生产讲成流程，不要讲成单点生成工具。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页面目的：说明如何把AI随机生成变成可管理的稳定生产。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生产前：检查剧本、资产、Prompt、成本预算。</a:t>
            </a:r>
          </a:p>
          <a:p xmlns:a="http://schemas.openxmlformats.org/drawingml/2006/main">
            <a:r>
              <a:t>- 生产中：监控任务失败、模型异常、成本超限。</a:t>
            </a:r>
          </a:p>
          <a:p xmlns:a="http://schemas.openxmlformats.org/drawingml/2006/main">
            <a:r>
              <a:t>- 生产后：检查角色一致性、声音一致性、字幕和合规。</a:t>
            </a:r>
          </a:p>
          <a:p xmlns:a="http://schemas.openxmlformats.org/drawingml/2006/main">
            <a:r>
              <a:t>- 目标：让AI生产可追踪、可重试、可复用。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AI漫剧最大的问题不是能不能生成，而是能不能稳定生产。角色脸漂、服装漂、场景漂、声音不一致、字幕错误、镜头逻辑跳跃，都会直接影响观众信任和内容完播。</a:t>
            </a:r>
          </a:p>
          <a:p xmlns:a="http://schemas.openxmlformats.org/drawingml/2006/main">
            <a:r>
              <a:t>OPC平台必须建立生产前、生产中、生产后的质检机制。生产前检查剧本和资产是否齐全；生产中检查任务失败和成本异常；生产后检查画面、声音、字幕、合规和平台适配。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视觉与版式建议：使用三段质检表：生产前质检、生产中监控、生产后验收。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角色一致性通过率</a:t>
            </a:r>
          </a:p>
          <a:p xmlns:a="http://schemas.openxmlformats.org/drawingml/2006/main">
            <a:r>
              <a:t>- 声音一致性通过率</a:t>
            </a:r>
          </a:p>
          <a:p xmlns:a="http://schemas.openxmlformats.org/drawingml/2006/main">
            <a:r>
              <a:t>- 字幕错误率</a:t>
            </a:r>
          </a:p>
          <a:p xmlns:a="http://schemas.openxmlformats.org/drawingml/2006/main">
            <a:r>
              <a:t>- 返工率</a:t>
            </a:r>
          </a:p>
          <a:p xmlns:a="http://schemas.openxmlformats.org/drawingml/2006/main">
            <a:r>
              <a:t>- 成本超限次数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本页要强调OPC平台的“工业化管理价值”，这是区别普通AI生成工具的关键。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页面目的：说明AI漫剧成片完成后往什么平台投放。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抖音/快手：适合短剧、漫剧、爆款题材测试。</a:t>
            </a:r>
          </a:p>
          <a:p xmlns:a="http://schemas.openxmlformats.org/drawingml/2006/main">
            <a:r>
              <a:t>- 视频号：适合私域承接、小程序付费和社群转化。</a:t>
            </a:r>
          </a:p>
          <a:p xmlns:a="http://schemas.openxmlformats.org/drawingml/2006/main">
            <a:r>
              <a:t>- 小红书/B站：适合案例展示、教程拆解和IP种草。</a:t>
            </a:r>
          </a:p>
          <a:p xmlns:a="http://schemas.openxmlformats.org/drawingml/2006/main">
            <a:r>
              <a:t>- TikTok/YouTube Shorts：适合测试海外通用题材。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AI漫剧投放不要一开始全平台铺开。抖音和快手适合做第一轮内容测试，因为短剧用户习惯强、算法反馈快，适合用样片测试题材和开头钩子。</a:t>
            </a:r>
          </a:p>
          <a:p xmlns:a="http://schemas.openxmlformats.org/drawingml/2006/main">
            <a:r>
              <a:t>视频号更适合承接私域、小程序付费、社群和品牌转化。小红书和B站不一定适合直接跑短剧付费，但适合做案例展示、制作教程和平台获客。海外平台可以测试悬疑、规则怪谈、科幻、情绪短剧等通用题材。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视觉与版式建议：使用平台矩阵表：平台、适合内容、投放目标、承接方式。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播放量</a:t>
            </a:r>
          </a:p>
          <a:p xmlns:a="http://schemas.openxmlformats.org/drawingml/2006/main">
            <a:r>
              <a:t>- 完播率</a:t>
            </a:r>
          </a:p>
          <a:p xmlns:a="http://schemas.openxmlformats.org/drawingml/2006/main">
            <a:r>
              <a:t>- 互动率</a:t>
            </a:r>
          </a:p>
          <a:p xmlns:a="http://schemas.openxmlformats.org/drawingml/2006/main">
            <a:r>
              <a:t>- 关注转化率</a:t>
            </a:r>
          </a:p>
          <a:p xmlns:a="http://schemas.openxmlformats.org/drawingml/2006/main">
            <a:r>
              <a:t>- 投放ROI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本页重点讲平台选择逻辑，不要展开成完整运营方案。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页面目的：说明AI漫剧如何先测样片，再决定是否批量生产。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先做3-5条样片测试题材和钩子。</a:t>
            </a:r>
          </a:p>
          <a:p xmlns:a="http://schemas.openxmlformats.org/drawingml/2006/main">
            <a:r>
              <a:t>- 用数据判断扩写、重剪、换题材或放弃。</a:t>
            </a:r>
          </a:p>
          <a:p xmlns:a="http://schemas.openxmlformats.org/drawingml/2006/main">
            <a:r>
              <a:t>- 爆款样片沉淀为剧本模板和分镜模板。</a:t>
            </a:r>
          </a:p>
          <a:p xmlns:a="http://schemas.openxmlformats.org/drawingml/2006/main">
            <a:r>
              <a:t>- 平台用数据反哺生产，而不是靠经验盲目扩量。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AI漫剧不能一开始就大规模生产。正确方式是先做少量样片，用小流量测试题材、开头、人物关系、节奏和转化路径。数据有效后，再扩写同题材、同结构、同人物关系的系列内容。</a:t>
            </a:r>
          </a:p>
          <a:p xmlns:a="http://schemas.openxmlformats.org/drawingml/2006/main">
            <a:r>
              <a:t>投放结果要回流到OPC平台，变成剧本模板、分镜模板、投放素材模板和题材标签库。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视觉与版式建议：使用测试漏斗图：样片生产 → 小流量测试 → 数据判断 → 扩写/重剪/放弃 → 模板沉淀。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样片测试数量</a:t>
            </a:r>
          </a:p>
          <a:p xmlns:a="http://schemas.openxmlformats.org/drawingml/2006/main">
            <a:r>
              <a:t>- 爆款率</a:t>
            </a:r>
          </a:p>
          <a:p xmlns:a="http://schemas.openxmlformats.org/drawingml/2006/main">
            <a:r>
              <a:t>- 扩写成功率</a:t>
            </a:r>
          </a:p>
          <a:p xmlns:a="http://schemas.openxmlformats.org/drawingml/2006/main">
            <a:r>
              <a:t>- 重剪后提升幅度</a:t>
            </a:r>
          </a:p>
          <a:p xmlns:a="http://schemas.openxmlformats.org/drawingml/2006/main">
            <a:r>
              <a:t>- 模板沉淀数量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这一页要强调“先验证再放大”，避免给人感觉只要AI生成就能量产赚钱。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页面目的：回答AI漫剧投放完以后怎么赚钱。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内容收入：播放分成、付费解锁、小程序承接。</a:t>
            </a:r>
          </a:p>
          <a:p xmlns:a="http://schemas.openxmlformats.org/drawingml/2006/main">
            <a:r>
              <a:t>- 电商收入：剧情带货、商品植入、私域转化。</a:t>
            </a:r>
          </a:p>
          <a:p xmlns:a="http://schemas.openxmlformats.org/drawingml/2006/main">
            <a:r>
              <a:t>- 服务收入：品牌定制、代制作、矩阵内容生产。</a:t>
            </a:r>
          </a:p>
          <a:p xmlns:a="http://schemas.openxmlformats.org/drawingml/2006/main">
            <a:r>
              <a:t>- 资产收入：剧本授权、IP授权、角色资产、模板包。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AI漫剧的变现不能只盯广告分成。广告分成受平台规则影响大，单独依赖风险高。更稳的模型是把内容当作流量入口，通过剧情吸引用户，再承接付费解锁、电商商品、课程咨询、私域社群、品牌定制或平台工具销售。</a:t>
            </a:r>
          </a:p>
          <a:p xmlns:a="http://schemas.openxmlformats.org/drawingml/2006/main">
            <a:r>
              <a:t>不同题材对应不同变现方式。女频甜宠、婚恋、家庭、职场类内容适合承接服饰美妆、家居日用、本地生活和私域咨询；男频逆袭、创业类内容适合课程、工具、招商和线索转化；悬疑、科幻类内容适合涨粉、IP孵化和付费解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视觉与版式建议：使用商业化路径图：内容流量 → 用户承接 → 付费/电商/品牌/服务/平台转化。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单剧收入</a:t>
            </a:r>
          </a:p>
          <a:p xmlns:a="http://schemas.openxmlformats.org/drawingml/2006/main">
            <a:r>
              <a:t>- 付费转化率</a:t>
            </a:r>
          </a:p>
          <a:p xmlns:a="http://schemas.openxmlformats.org/drawingml/2006/main">
            <a:r>
              <a:t>- 电商转化率</a:t>
            </a:r>
          </a:p>
          <a:p xmlns:a="http://schemas.openxmlformats.org/drawingml/2006/main">
            <a:r>
              <a:t>- 品牌定制收入</a:t>
            </a:r>
          </a:p>
          <a:p xmlns:a="http://schemas.openxmlformats.org/drawingml/2006/main">
            <a:r>
              <a:t>- 平台工具转化客户数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本页要让听众看到AI漫剧不是只靠播放分成，而是有多元商业化空间。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页面目的：说明AI漫剧如何服务电商引流、商品转化和品牌合作。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商品必须服务剧情，而不是破坏剧情。</a:t>
            </a:r>
          </a:p>
          <a:p xmlns:a="http://schemas.openxmlformats.org/drawingml/2006/main">
            <a:r>
              <a:t>- 植入要从人物需求和情绪场景出发。</a:t>
            </a:r>
          </a:p>
          <a:p xmlns:a="http://schemas.openxmlformats.org/drawingml/2006/main">
            <a:r>
              <a:t>- 转化路径要提前设计：视频、小程序、私域、店铺。</a:t>
            </a:r>
          </a:p>
          <a:p xmlns:a="http://schemas.openxmlformats.org/drawingml/2006/main">
            <a:r>
              <a:t>- 品牌合作可以从定制短剧、剧情植入、账号矩阵切入。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剧情植入不能硬塞商品，否则会影响完播和用户信任。更好的方式是让商品自然服务角色需求和剧情冲突。例如人物遇到生活问题、情感问题、职场问题，再引出对应商品或服务。</a:t>
            </a:r>
          </a:p>
          <a:p xmlns:a="http://schemas.openxmlformats.org/drawingml/2006/main">
            <a:r>
              <a:t>电商引流要在剧本阶段就设计好商业目标。是引导下单、进私域、领券、咨询，还是进入小程序付费解锁，路径不同，剧本结构也不同。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视觉与版式建议：使用“剧情场景 → 商品需求 → 转化入口 → 数据复盘”路径图。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商品点击率</a:t>
            </a:r>
          </a:p>
          <a:p xmlns:a="http://schemas.openxmlformats.org/drawingml/2006/main">
            <a:r>
              <a:t>- 下单转化率</a:t>
            </a:r>
          </a:p>
          <a:p xmlns:a="http://schemas.openxmlformats.org/drawingml/2006/main">
            <a:r>
              <a:t>- 私域添加率</a:t>
            </a:r>
          </a:p>
          <a:p xmlns:a="http://schemas.openxmlformats.org/drawingml/2006/main">
            <a:r>
              <a:t>- 内容完播率</a:t>
            </a:r>
          </a:p>
          <a:p xmlns:a="http://schemas.openxmlformats.org/drawingml/2006/main">
            <a:r>
              <a:t>- 品牌复购率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本页不要讲成单纯带货教程，要强调“剧情服务转化”。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页面目的：正式进入第二件事情：OPC平台是什么。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OPC是线上AI漫剧制作平台。</a:t>
            </a:r>
          </a:p>
          <a:p xmlns:a="http://schemas.openxmlformats.org/drawingml/2006/main">
            <a:r>
              <a:t>- 覆盖从剧本创作、分镜拆解到成片导出的全流程。</a:t>
            </a:r>
          </a:p>
          <a:p xmlns:a="http://schemas.openxmlformats.org/drawingml/2006/main">
            <a:r>
              <a:t>- 平台解决工具分散、资产散落、角色不一致、成本不可控的问题。</a:t>
            </a:r>
          </a:p>
          <a:p xmlns:a="http://schemas.openxmlformats.org/drawingml/2006/main">
            <a:r>
              <a:t>- 先服务AI漫剧生产，再逐步扩展到培训、交易和生态。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OPC平台的第一定位不是泛AI平台，而是线上AI漫剧制作平台。它要解决的是AI漫剧制作过程中的全流程问题：剧本怎么生成，分镜怎么拆，角色和场景怎么管理，图片和视频怎么批量生成，配音字幕怎么合成，成本怎么计算，成片怎么导出。</a:t>
            </a:r>
          </a:p>
          <a:p xmlns:a="http://schemas.openxmlformats.org/drawingml/2006/main">
            <a:r>
              <a:t>平台的价值在于把生产过程变成可管理的数据结构。每个项目都应该有剧本版本、分镜表、角色资产、场景资产、任务队列、模型参数、积分流水、生成结果和导出记录。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视觉与版式建议：使用平台工作台示意图：左侧项目管理，中间画布/流程，右侧资产与参数，下方任务和成本。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平台项目创建数</a:t>
            </a:r>
          </a:p>
          <a:p xmlns:a="http://schemas.openxmlformats.org/drawingml/2006/main">
            <a:r>
              <a:t>- 剧本到成片完成率</a:t>
            </a:r>
          </a:p>
          <a:p xmlns:a="http://schemas.openxmlformats.org/drawingml/2006/main">
            <a:r>
              <a:t>- 单项目平均生产时间</a:t>
            </a:r>
          </a:p>
          <a:p xmlns:a="http://schemas.openxmlformats.org/drawingml/2006/main">
            <a:r>
              <a:t>- 单项目平均Token消耗</a:t>
            </a:r>
          </a:p>
          <a:p xmlns:a="http://schemas.openxmlformats.org/drawingml/2006/main">
            <a:r>
              <a:t>- 活跃创作者数量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这一页是文档从内容线进入平台线的转折页，要把OPC定位收窄到“AI漫剧制作平台”。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页面目的：定义OPC平台P0阶段必须具备的功能范围。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剧本创作：选题、梗概、分集大纲、单集剧本。</a:t>
            </a:r>
          </a:p>
          <a:p xmlns:a="http://schemas.openxmlformats.org/drawingml/2006/main">
            <a:r>
              <a:t>- 分镜制作：镜号、景别、动作、对白、音效、Prompt。</a:t>
            </a:r>
          </a:p>
          <a:p xmlns:a="http://schemas.openxmlformats.org/drawingml/2006/main">
            <a:r>
              <a:t>- 资产管理：角色、场景、道具、风格、音色。</a:t>
            </a:r>
          </a:p>
          <a:p xmlns:a="http://schemas.openxmlformats.org/drawingml/2006/main">
            <a:r>
              <a:t>- AI生成：图片、视频、配音、字幕、音效。</a:t>
            </a:r>
          </a:p>
          <a:p xmlns:a="http://schemas.openxmlformats.org/drawingml/2006/main">
            <a:r>
              <a:t>- 成片导出：剪辑合成、版本管理、成本统计。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OPC的P0目标是跑通从剧本到成剧的最小闭环。平台不需要一开始做非常复杂的生态功能，但必须把AI漫剧生产主链路打通。</a:t>
            </a:r>
          </a:p>
          <a:p xmlns:a="http://schemas.openxmlformats.org/drawingml/2006/main">
            <a:r>
              <a:t>核心功能包括剧本生成、分镜拆解、角色库、场景库、Prompt管理、图片生成、视频生成、TTS配音、字幕生成、任务队列、失败重试、成片合成、成本计费和导出管理。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视觉与版式建议：使用“从剧本到成片”的端到端流程图，每个节点标注对应平台功能。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P0功能完成率</a:t>
            </a:r>
          </a:p>
          <a:p xmlns:a="http://schemas.openxmlformats.org/drawingml/2006/main">
            <a:r>
              <a:t>- 剧本生成成功率</a:t>
            </a:r>
          </a:p>
          <a:p xmlns:a="http://schemas.openxmlformats.org/drawingml/2006/main">
            <a:r>
              <a:t>- 分镜拆解完整率</a:t>
            </a:r>
          </a:p>
          <a:p xmlns:a="http://schemas.openxmlformats.org/drawingml/2006/main">
            <a:r>
              <a:t>- 任务生成成功率</a:t>
            </a:r>
          </a:p>
          <a:p xmlns:a="http://schemas.openxmlformats.org/drawingml/2006/main">
            <a:r>
              <a:t>- 成片导出成功率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这一页要讲清楚P0边界，避免一开始把交易市场、数字人、APP开发等都放进核心功能。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页面目的：说明OPC从单人制作工具升级为团队化、平台化生产系统需要哪些高级能力。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协作能力：多人项目、权限、版本、审批。</a:t>
            </a:r>
          </a:p>
          <a:p xmlns:a="http://schemas.openxmlformats.org/drawingml/2006/main">
            <a:r>
              <a:t>- 资产能力：角色库、场景库、音色库、模板库。</a:t>
            </a:r>
          </a:p>
          <a:p xmlns:a="http://schemas.openxmlformats.org/drawingml/2006/main">
            <a:r>
              <a:t>- 质检能力：角色一致性、声音一致性、字幕合规。</a:t>
            </a:r>
          </a:p>
          <a:p xmlns:a="http://schemas.openxmlformats.org/drawingml/2006/main">
            <a:r>
              <a:t>- 生产能力：批量生成、失败重试、成本预估。</a:t>
            </a:r>
          </a:p>
          <a:p xmlns:a="http://schemas.openxmlformats.org/drawingml/2006/main">
            <a:r>
              <a:t>- 企业能力：团队空间、API、私有化、审计记录。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当OPC完成基础制作闭环后，下一步要从工具升级为生产平台。团队协作、资产复用、模板沉淀、质量控制和企业管理，是平台商业化的关键。</a:t>
            </a:r>
          </a:p>
          <a:p xmlns:a="http://schemas.openxmlformats.org/drawingml/2006/main">
            <a:r>
              <a:t>个人用户需要的是简单高效，团队用户需要的是协作、权限、版本和成本。企业客户还会关注数据安全、流程审计、私有化部署和API接入。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视觉与版式建议：使用能力分层图：基础制作层、协作管理层、资产模板层、质检风控层、企业服务层。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团队项目数量</a:t>
            </a:r>
          </a:p>
          <a:p xmlns:a="http://schemas.openxmlformats.org/drawingml/2006/main">
            <a:r>
              <a:t>- 资产复用次数</a:t>
            </a:r>
          </a:p>
          <a:p xmlns:a="http://schemas.openxmlformats.org/drawingml/2006/main">
            <a:r>
              <a:t>- 模板使用次数</a:t>
            </a:r>
          </a:p>
          <a:p xmlns:a="http://schemas.openxmlformats.org/drawingml/2006/main">
            <a:r>
              <a:t>- 质检通过率</a:t>
            </a:r>
          </a:p>
          <a:p xmlns:a="http://schemas.openxmlformats.org/drawingml/2006/main">
            <a:r>
              <a:t>- 企业客户数量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这一页重点讲P1/P2，不要和P0混在一起。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页面目的：说明OPC平台如何商业化。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Token/积分：按模型调用、生成次数、导出次数计费。</a:t>
            </a:r>
          </a:p>
          <a:p xmlns:a="http://schemas.openxmlformats.org/drawingml/2006/main">
            <a:r>
              <a:t>- 会员订阅：按个人版、团队版、企业版分层。</a:t>
            </a:r>
          </a:p>
          <a:p xmlns:a="http://schemas.openxmlformats.org/drawingml/2006/main">
            <a:r>
              <a:t>- 漫剧培训：课程、训练营、认证、陪跑服务。</a:t>
            </a:r>
          </a:p>
          <a:p xmlns:a="http://schemas.openxmlformats.org/drawingml/2006/main">
            <a:r>
              <a:t>- 模板资产：剧本模板、分镜模板、角色资产、工作流。</a:t>
            </a:r>
          </a:p>
          <a:p xmlns:a="http://schemas.openxmlformats.org/drawingml/2006/main">
            <a:r>
              <a:t>- 交易撮合：剧本交易、承制接单、代制作服务。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OPC不能只靠Token赚钱。Token是入口，但不是终局。平台真正的收入结构应该包括会员、积分、模板、资产、课程、交易和企业服务。</a:t>
            </a:r>
          </a:p>
          <a:p xmlns:a="http://schemas.openxmlformats.org/drawingml/2006/main">
            <a:r>
              <a:t>漫剧培训是非常重要的早期收入方式。因为AI漫剧不是有工具就会做，用户需要学习题材选择、剧本结构、分镜拆解、Prompt写法、镜头质检、投放复盘。平台可以把内部SOP做成课程和训练营。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视觉与版式建议：使用收入金字塔：底层Token，中层会员和模板，上层培训、交易、企业服务。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Token消耗金额</a:t>
            </a:r>
          </a:p>
          <a:p xmlns:a="http://schemas.openxmlformats.org/drawingml/2006/main">
            <a:r>
              <a:t>- 会员订阅收入</a:t>
            </a:r>
          </a:p>
          <a:p xmlns:a="http://schemas.openxmlformats.org/drawingml/2006/main">
            <a:r>
              <a:t>- 培训课程收入</a:t>
            </a:r>
          </a:p>
          <a:p xmlns:a="http://schemas.openxmlformats.org/drawingml/2006/main">
            <a:r>
              <a:t>- 模板资产销售额</a:t>
            </a:r>
          </a:p>
          <a:p xmlns:a="http://schemas.openxmlformats.org/drawingml/2006/main">
            <a:r>
              <a:t>- 企业服务收入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这一页要讲出平台收入结构，不要只说“卖Token”。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页面目的：说明OPC如何从制作工具升级为漫剧生态中转交易平台。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创作者可以在平台生成和售卖剧本。</a:t>
            </a:r>
          </a:p>
          <a:p xmlns:a="http://schemas.openxmlformats.org/drawingml/2006/main">
            <a:r>
              <a:t>- 承制团队可以购买剧本或接单制作。</a:t>
            </a:r>
          </a:p>
          <a:p xmlns:a="http://schemas.openxmlformats.org/drawingml/2006/main">
            <a:r>
              <a:t>- AI美术、分镜师、声音创作者可以出售资产和模板。</a:t>
            </a:r>
          </a:p>
          <a:p xmlns:a="http://schemas.openxmlformats.org/drawingml/2006/main">
            <a:r>
              <a:t>- OPC从工具收入升级为交易佣金和生态服务收入。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OPC平台成熟后，不应该只停留在制作工具。它可以进一步成为漫剧产业的中转交易平台。创作者在平台生成剧本后，可以选择自己制作，也可以把剧本挂到交易市场；承制团队可以购买剧本，也可以承接制作订单；AI美术和分镜师可以出售角色资产、场景资产、分镜模板和工作流模板。</a:t>
            </a:r>
          </a:p>
          <a:p xmlns:a="http://schemas.openxmlformats.org/drawingml/2006/main">
            <a:r>
              <a:t>平台在这个过程中可以获得交易佣金、会员费、认证费、推广费和企业服务收入。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视觉与版式建议：使用交易网络图：创作者、承制团队、资产创作者、品牌方、平台五方关系。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上架剧本数量</a:t>
            </a:r>
          </a:p>
          <a:p xmlns:a="http://schemas.openxmlformats.org/drawingml/2006/main">
            <a:r>
              <a:t>- 剧本交易金额</a:t>
            </a:r>
          </a:p>
          <a:p xmlns:a="http://schemas.openxmlformats.org/drawingml/2006/main">
            <a:r>
              <a:t>- 模板资产交易额</a:t>
            </a:r>
          </a:p>
          <a:p xmlns:a="http://schemas.openxmlformats.org/drawingml/2006/main">
            <a:r>
              <a:t>- 承制撮合订单数</a:t>
            </a:r>
          </a:p>
          <a:p xmlns:a="http://schemas.openxmlformats.org/drawingml/2006/main">
            <a:r>
              <a:t>- 平台交易佣金收入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这一页要突出“中转交易平台”的价值，但不能让它提前覆盖制作工具主线。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页面目的：给出项目阶段推进路径和判断是否继续加码的指标。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- 0-3个月：AI漫剧样片验证，跑通内容闭环。</a:t>
            </a:r>
          </a:p>
          <a:p xmlns:a="http://schemas.openxmlformats.org/drawingml/2006/main">
            <a:r>
              <a:t>- 3-6个月：OPC制作平台P0，内部生产提效。</a:t>
            </a:r>
          </a:p>
          <a:p xmlns:a="http://schemas.openxmlformats.org/drawingml/2006/main">
            <a:r>
              <a:t>- 6-12个月：开放创作者工具，启动Token、培训、模板收费。</a:t>
            </a:r>
          </a:p>
          <a:p xmlns:a="http://schemas.openxmlformats.org/drawingml/2006/main">
            <a:r>
              <a:t>- 12-18个月：建设剧本、资产、承制撮合交易平台。</a:t>
            </a:r>
          </a:p>
          <a:p xmlns:a="http://schemas.openxmlformats.org/drawingml/2006/main">
            <a:r>
              <a:t>- 18个月后：探索数字人、APP开发、跨境选品等OPC产品聚合。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项目推进要遵循“先内容、再平台、后生态、再聚合”的顺序。第一阶段验证AI漫剧内容能不能做出来、能不能投放、能不能变现。第二阶段把生产流程工具化，建设OPC制作平台。第三阶段开放创作者和团队使用，形成Token、培训、模板和资产收入。第四阶段做交易撮合，升级为漫剧生态平台。第五阶段才考虑产品聚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视觉与版式建议：使用时间轴：M0-M3、M3-M6、M6-M12、M12-M18、M18+。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样片数量</a:t>
            </a:r>
          </a:p>
          <a:p xmlns:a="http://schemas.openxmlformats.org/drawingml/2006/main">
            <a:r>
              <a:t>- 内容投放ROI</a:t>
            </a:r>
          </a:p>
          <a:p xmlns:a="http://schemas.openxmlformats.org/drawingml/2006/main">
            <a:r>
              <a:t>- 平台活跃用户数</a:t>
            </a:r>
          </a:p>
          <a:p xmlns:a="http://schemas.openxmlformats.org/drawingml/2006/main">
            <a:r>
              <a:t>- Token收入</a:t>
            </a:r>
          </a:p>
          <a:p xmlns:a="http://schemas.openxmlformats.org/drawingml/2006/main">
            <a:r>
              <a:t>- 培训收入</a:t>
            </a:r>
          </a:p>
          <a:p xmlns:a="http://schemas.openxmlformats.org/drawingml/2006/main">
            <a:r>
              <a:t>- 交易额</a:t>
            </a:r>
          </a:p>
          <a:p xmlns:a="http://schemas.openxmlformats.org/drawingml/2006/main">
            <a:r>
              <a:t>- 企业客户数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本页要强调阶段纪律，避免一开始就铺太多方向。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页面目的：说明OPC的长期延伸方向：当前核心是线上AI漫剧制作平台，先服务剧本创作、漫剧生产、投放和商业化；当平台底座成熟后，再延伸到数字人、APP开发、跨境选品等多场景AI产品。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可上屏文案：</a:t>
            </a:r>
          </a:p>
          <a:p xmlns:a="http://schemas.openxmlformats.org/drawingml/2006/main">
            <a:r>
              <a:t>- 当前核心：OPC先做线上AI漫剧制作平台。</a:t>
            </a:r>
          </a:p>
          <a:p xmlns:a="http://schemas.openxmlformats.org/drawingml/2006/main">
            <a:r>
              <a:t>- 近期变现：Token、培训、模板、资产、剧本交易、承制撮合。</a:t>
            </a:r>
          </a:p>
          <a:p xmlns:a="http://schemas.openxmlformats.org/drawingml/2006/main">
            <a:r>
              <a:t>- 中期生态：从制作工具升级为漫剧创作者与承制交易平台。</a:t>
            </a:r>
          </a:p>
          <a:p xmlns:a="http://schemas.openxmlformats.org/drawingml/2006/main">
            <a:r>
              <a:t>- 长期延伸：数字人、APP开发、跨境选品等多场景AI产品聚合。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详细展开讲稿：</a:t>
            </a:r>
          </a:p>
          <a:p xmlns:a="http://schemas.openxmlformats.org/drawingml/2006/main">
            <a:r>
              <a:t>OPC的起点不是泛AI平台，而是AI漫剧制作平台。平台首先要把剧本创作、分镜拆解、角色场景资产、图片生成、视频生成、配音字幕、成片合成、成本计费和交付协作做完整。</a:t>
            </a:r>
          </a:p>
          <a:p xmlns:a="http://schemas.openxmlformats.org/drawingml/2006/main">
            <a:r>
              <a:t>当这套流程稳定后，OPC可以进一步做漫剧生态：创作者可以在平台生成剧本，承制团队可以购买剧本或接单制作，AI美术和分镜师可以出售角色、场景、模板和工作流。平台由工具收入扩展到交易收入和培训收入。</a:t>
            </a:r>
          </a:p>
          <a:p xmlns:a="http://schemas.openxmlformats.org/drawingml/2006/main">
            <a:r>
              <a:t>再往后，OPC底层的模型调用、工作流引擎、资产管理、任务队列、计费系统和交易市场，可以延伸到数字人、个人APP应用开发、跨境电商选品等场景。但这些是后续产品聚合，不应该冲淡当前“AI漫剧 + OPC制作平台”的主线。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视觉与版式建议：第一阶段：AI漫剧制作工具，核心业务是剧本、分镜、成片、投放。</a:t>
            </a:r>
          </a:p>
          <a:p xmlns:a="http://schemas.openxmlformats.org/drawingml/2006/main">
            <a:r>
              <a:t>第二阶段：漫剧生态交易平台，核心业务是培训、模板、资产、剧本交易、承制撮合。</a:t>
            </a:r>
          </a:p>
          <a:p xmlns:a="http://schemas.openxmlformats.org/drawingml/2006/main">
            <a:r>
              <a:t>第三阶段：OPC产品聚合平台，核心业务是数字人、APP开发、跨境选品等AI产品。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可追踪指标：</a:t>
            </a:r>
          </a:p>
          <a:p xmlns:a="http://schemas.openxmlformats.org/drawingml/2006/main">
            <a:r>
              <a:t>- AI漫剧项目完成数</a:t>
            </a:r>
          </a:p>
          <a:p xmlns:a="http://schemas.openxmlformats.org/drawingml/2006/main">
            <a:r>
              <a:t>- 平台Token消耗金额</a:t>
            </a:r>
          </a:p>
          <a:p xmlns:a="http://schemas.openxmlformats.org/drawingml/2006/main">
            <a:r>
              <a:t>- 培训课程收入</a:t>
            </a:r>
          </a:p>
          <a:p xmlns:a="http://schemas.openxmlformats.org/drawingml/2006/main">
            <a:r>
              <a:t>- 模板/资产交易额</a:t>
            </a:r>
          </a:p>
          <a:p xmlns:a="http://schemas.openxmlformats.org/drawingml/2006/main">
            <a:r>
              <a:t>- 剧本交易数量</a:t>
            </a:r>
          </a:p>
          <a:p xmlns:a="http://schemas.openxmlformats.org/drawingml/2006/main">
            <a:r>
              <a:t>- 承制撮合订单数</a:t>
            </a:r>
          </a:p>
          <a:p xmlns:a="http://schemas.openxmlformats.org/drawingml/2006/main">
            <a:r>
              <a:t>- 创作者留存率</a:t>
            </a:r>
          </a:p>
          <a:p xmlns:a="http://schemas.openxmlformats.org/drawingml/2006/main">
            <a:r>
              <a:t>- 后续新品类接入成本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PPT制作备注：</a:t>
            </a:r>
          </a:p>
          <a:p xmlns:a="http://schemas.openxmlformats.org/drawingml/2006/main">
            <a:r>
              <a:t>这一页要避免把OPC一开始讲成“大而全平台”。正确表达是：先用AI漫剧做深，再用OPC平台做透，最后才做产品聚合。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附录A：AI漫剧生产SOP摘要</a:t>
            </a:r>
          </a:p>
          <a:p xmlns:a="http://schemas.openxmlformats.org/drawingml/2006/main">
            <a:r>
              <a:t>- 创意输入：明确题材、目标平台、目标人群、集数和商业目标。</a:t>
            </a:r>
          </a:p>
          <a:p xmlns:a="http://schemas.openxmlformats.org/drawingml/2006/main">
            <a:r>
              <a:t>- 剧本生成：输出选题、梗概、分集大纲、单集剧本和分镜脚本Master。</a:t>
            </a:r>
          </a:p>
          <a:p xmlns:a="http://schemas.openxmlformats.org/drawingml/2006/main">
            <a:r>
              <a:t>- 资产建设：提取角色、场景、道具、风格、音色，并建立可复用资产库。</a:t>
            </a:r>
          </a:p>
          <a:p xmlns:a="http://schemas.openxmlformats.org/drawingml/2006/main">
            <a:r>
              <a:t>- 分镜生成：按镜号拆解画面、动作、景别、机位、对白、旁白、音效和Prompt。</a:t>
            </a:r>
          </a:p>
          <a:p xmlns:a="http://schemas.openxmlformats.org/drawingml/2006/main">
            <a:r>
              <a:t>- 图片/视频生成：按分镜批量生成画面与镜头，并进行多副本择优。</a:t>
            </a:r>
          </a:p>
          <a:p xmlns:a="http://schemas.openxmlformats.org/drawingml/2006/main">
            <a:r>
              <a:t>- 配音字幕：生成角色音色、旁白、字幕和音效，检查音画同步。</a:t>
            </a:r>
          </a:p>
          <a:p xmlns:a="http://schemas.openxmlformats.org/drawingml/2006/main">
            <a:r>
              <a:t>- 合成导出：合成成片，记录版本、成本和导出参数。</a:t>
            </a:r>
          </a:p>
          <a:p xmlns:a="http://schemas.openxmlformats.org/drawingml/2006/main">
            <a:r>
              <a:t>- 投放复盘：回收播放、完播、互动、转化数据，沉淀下一轮模板。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附录B：OPC平台功能分期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 | 核心目标 | 关键能力</a:t>
            </a:r>
          </a:p>
          <a:p xmlns:a="http://schemas.openxmlformats.org/drawingml/2006/main">
            <a:r>
              <a:t>P0 | 跑通AI漫剧制作闭环 | 剧本、分镜、资产、生成、配音字幕、合成、成本计费</a:t>
            </a:r>
          </a:p>
          <a:p xmlns:a="http://schemas.openxmlformats.org/drawingml/2006/main">
            <a:r>
              <a:t>P1 | 支持团队化生产 | 多人协作、权限、版本、审批、质检、任务队列</a:t>
            </a:r>
          </a:p>
          <a:p xmlns:a="http://schemas.openxmlformats.org/drawingml/2006/main">
            <a:r>
              <a:t>P2 | 支持平台商业化 | Token、会员、模板资产、培训课程、企业版</a:t>
            </a:r>
          </a:p>
          <a:p xmlns:a="http://schemas.openxmlformats.org/drawingml/2006/main">
            <a:r>
              <a:t>P3 | 支持生态交易 | 剧本交易、资产交易、模板交易、承制撮合、佣金结算</a:t>
            </a:r>
          </a:p>
          <a:p xmlns:a="http://schemas.openxmlformats.org/drawingml/2006/main">
            <a:r>
              <a:t>P4 | 支持产品聚合 | 数字人、APP开发、跨境选品等后续产品线接入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附录C：建议商业化组合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业务模块 | 收入方式</a:t>
            </a:r>
          </a:p>
          <a:p xmlns:a="http://schemas.openxmlformats.org/drawingml/2006/main">
            <a:r>
              <a:t>AI漫剧内容业务 | 播放分成、付费解锁、电商引流、品牌定制、代制作</a:t>
            </a:r>
          </a:p>
          <a:p xmlns:a="http://schemas.openxmlformats.org/drawingml/2006/main">
            <a:r>
              <a:t>OPC制作工具 | Token/积分包、会员订阅、模型调用、存储、导出</a:t>
            </a:r>
          </a:p>
          <a:p xmlns:a="http://schemas.openxmlformats.org/drawingml/2006/main">
            <a:r>
              <a:t>漫剧培训 | 课程、训练营、认证、陪跑、企业内训</a:t>
            </a:r>
          </a:p>
          <a:p xmlns:a="http://schemas.openxmlformats.org/drawingml/2006/main">
            <a:r>
              <a:t>模板与资产 | 剧本模板、分镜模板、角色资产、场景资产、工作流模板</a:t>
            </a:r>
          </a:p>
          <a:p xmlns:a="http://schemas.openxmlformats.org/drawingml/2006/main">
            <a:r>
              <a:t>中转交易平台 | 剧本交易、资产交易、承制撮合、平台佣金</a:t>
            </a:r>
          </a:p>
          <a:p xmlns:a="http://schemas.openxmlformats.org/drawingml/2006/main">
            <a:r>
              <a:t>后续产品聚合 | 数字人、APP开发、跨境选品等新增产品线收入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95b588fa144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89141cfd834785" /><Relationship Type="http://schemas.openxmlformats.org/officeDocument/2006/relationships/slideLayout" Target="/ppt/slideLayouts/slideLayout1.xml" Id="R65582c854b4145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582c854b4145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ab3dbe0a34020" /><Relationship Type="http://schemas.openxmlformats.org/officeDocument/2006/relationships/notesSlide" Target="/ppt/notesSlides/notesSlide1.xml" Id="Rd395f84a74aa4c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1566935004ce6" /><Relationship Type="http://schemas.openxmlformats.org/officeDocument/2006/relationships/notesSlide" Target="/ppt/notesSlides/notesSlide2.xml" Id="R754937d5343745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3ee86598149bf" /><Relationship Type="http://schemas.openxmlformats.org/officeDocument/2006/relationships/notesSlide" Target="/ppt/notesSlides/notesSlide3.xml" Id="R6f71503f46004f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d7a3703441e1" /><Relationship Type="http://schemas.openxmlformats.org/officeDocument/2006/relationships/notesSlide" Target="/ppt/notesSlides/notesSlide4.xml" Id="Re845081ddfa54f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926c2fdbc4a6a" /><Relationship Type="http://schemas.openxmlformats.org/officeDocument/2006/relationships/notesSlide" Target="/ppt/notesSlides/notesSlide5.xml" Id="Ra30f2599fbd746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12bcddaad4bcf" /><Relationship Type="http://schemas.openxmlformats.org/officeDocument/2006/relationships/notesSlide" Target="/ppt/notesSlides/notesSlide6.xml" Id="R84552c5036134d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22ffaf3c245a0" /><Relationship Type="http://schemas.openxmlformats.org/officeDocument/2006/relationships/notesSlide" Target="/ppt/notesSlides/notesSlide7.xml" Id="Ra21606fe9d9941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010d256cd44d1" /><Relationship Type="http://schemas.openxmlformats.org/officeDocument/2006/relationships/notesSlide" Target="/ppt/notesSlides/notesSlide8.xml" Id="R92fa8071dfc843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41cf8583e4fde" /><Relationship Type="http://schemas.openxmlformats.org/officeDocument/2006/relationships/notesSlide" Target="/ppt/notesSlides/notesSlide9.xml" Id="R0b7f38f0ccc943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ee881e64e4081" /><Relationship Type="http://schemas.openxmlformats.org/officeDocument/2006/relationships/notesSlide" Target="/ppt/notesSlides/notesSlide10.xml" Id="Racac2a7df34f4f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970d1cd374c2f" /><Relationship Type="http://schemas.openxmlformats.org/officeDocument/2006/relationships/notesSlide" Target="/ppt/notesSlides/notesSlide11.xml" Id="R89f084aa741242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4d2403ba4273" /><Relationship Type="http://schemas.openxmlformats.org/officeDocument/2006/relationships/notesSlide" Target="/ppt/notesSlides/notesSlide12.xml" Id="R8e229b3fe82b43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221c908884970" /><Relationship Type="http://schemas.openxmlformats.org/officeDocument/2006/relationships/notesSlide" Target="/ppt/notesSlides/notesSlide13.xml" Id="Rbf3235164ff54f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044bd853b4b85" /><Relationship Type="http://schemas.openxmlformats.org/officeDocument/2006/relationships/notesSlide" Target="/ppt/notesSlides/notesSlide14.xml" Id="R3598bb97847743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afb60baa4db7" /><Relationship Type="http://schemas.openxmlformats.org/officeDocument/2006/relationships/notesSlide" Target="/ppt/notesSlides/notesSlide15.xml" Id="R24da3a9eb2c14f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e2453806749f7" /><Relationship Type="http://schemas.openxmlformats.org/officeDocument/2006/relationships/notesSlide" Target="/ppt/notesSlides/notesSlide16.xml" Id="Rb05a0fc144ea47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a508ce5849d5" /><Relationship Type="http://schemas.openxmlformats.org/officeDocument/2006/relationships/notesSlide" Target="/ppt/notesSlides/notesSlide17.xml" Id="Rca46d10578f249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c82dce64d4985" /><Relationship Type="http://schemas.openxmlformats.org/officeDocument/2006/relationships/notesSlide" Target="/ppt/notesSlides/notesSlide18.xml" Id="R8425567bba6946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87734e6414f80" /><Relationship Type="http://schemas.openxmlformats.org/officeDocument/2006/relationships/notesSlide" Target="/ppt/notesSlides/notesSlide19.xml" Id="Re25d251c86cc44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42ebae26e4ed8" /><Relationship Type="http://schemas.openxmlformats.org/officeDocument/2006/relationships/notesSlide" Target="/ppt/notesSlides/notesSlide20.xml" Id="R059e6697bd2b48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24f277cb54e4c" /><Relationship Type="http://schemas.openxmlformats.org/officeDocument/2006/relationships/notesSlide" Target="/ppt/notesSlides/notesSlide21.xml" Id="Ref25f854a79d48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682ab2ed84102" /><Relationship Type="http://schemas.openxmlformats.org/officeDocument/2006/relationships/notesSlide" Target="/ppt/notesSlides/notesSlide22.xml" Id="R585d70f687b7466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C3452-DC51-494C-BEEF-5723F452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45B70-8FAA-4ECB-8184-B0F43EF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677FD-1115-4D7A-8829-AD19DAA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A6399-618F-498A-81C3-33AFD2A9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E6EF3-9A88-4897-AE93-7B4AC16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DA151-1FB7-46AA-8CC8-1B5E551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27275-48F9-4A06-876A-B63AACA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677F0-A811-4496-BAFF-DA64834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A8151-DB29-4709-B384-556196EC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6002C-A52E-4816-A4E3-BF7F90ED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00669-5449-477F-B1A7-792B280C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6D1F8-DAFF-4861-9844-4119C614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00D03-69BF-45F6-A781-FE70E79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2088E-7B92-4306-B876-2CE943AB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55DCA-92DC-4AE8-AA3C-9987ED7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F3CF2-0261-4BA9-A552-13C39EF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FAE82-686E-4A02-932E-95E699B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F9739-EBC3-4A5D-95B0-3423E69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EFD4F-9F59-4D38-887F-185EDB87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303B2-10D1-4BF5-A17B-4599763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FF7F5B1E-3BD7-4D3E-B251-0AD366F7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EF0547-25EB-4F37-A782-5FFADE7D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666E7-B80C-453C-9936-0AC6823E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C267F-8FD0-404C-8D95-466D1FBA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PPT第01页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49C32C-87BC-49B9-9D97-07A9039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项目总览：AI漫剧内容业务 + OPC制作平台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842018C8-9A97-4FB4-8CF0-E18C75EC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开场建立认知：本项目不是单一AI工具，也不是泛AI平台，而是先做AI漫剧内容业务，再把生产流程沉淀为OPC线上AI漫剧制作平台。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80A2C-6E2C-4630-B98A-F1ABE0E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40DBA8-04B6-44FC-823F-FFE16BF4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43016-C34D-4BE9-AF63-CB2696B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第一条主线：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AI漫剧内容业务，跑通剧本、成片、投放、变现。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第二条主线：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OPC制作平台，沉淀线上AI漫剧生产工具。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内容业务负责验证市场，平台业务负责复制能力。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后续再延伸到数字人、APP开发、跨境选品等OPC产品聚合。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B833D-6703-4287-99AE-79793AA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双主线结构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2724D3-C089-49B4-BA9E-7D63CB6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22D3EE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85A34-0801-4968-8B33-90855951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AI漫剧内容业务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120492-1914-4049-9BE6-558F0ACB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成片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投放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变现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DA0AD3-66C6-4E08-A8D4-42FC4F07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1B30">
              <a:alpha val="88000"/>
            </a:srgbClr>
          </a:solidFill>
          <a:ln xmlns:a="http://schemas.openxmlformats.org/drawingml/2006/main" w="9525">
            <a:solidFill>
              <a:srgbClr val="34D399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0B670-423E-4E4F-AE02-A6725E23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沉淀连接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84F908-6790-4F4D-9A7D-0685D00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资产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模板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数据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SOP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2A69F7-505E-4D3C-8349-537D6ABD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F59E0B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CC8A5E-EF39-4373-9F08-E1379507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OPC制作平台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43DED2-3B61-49A5-BC0E-783AA3E3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工具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模板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课程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交易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70111B-7E8E-44F0-8763-022443A4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75DD97-98E0-46B7-9763-4125CAB9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64B952-5FCF-4A7F-8D44-88D08E70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AI漫剧样片数量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EE9AB2-19A7-4280-BA71-08893DAA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25CEA5-3E0F-4214-ACF0-E78BC8B6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单集生产成本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834ABA-21ED-4139-8C22-3AD04CE7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E52128-0DF4-4FDA-B1AD-7B3C51D8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投放ROI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49BED4-3732-442F-A97E-21CAC59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703FE0-DC10-41E0-89EA-A8E382B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平台功能完成率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8FAD69-AA7E-4415-9AE4-81687382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BE764C-B4F3-49DA-B0A7-5E84E66B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模板和资产沉淀数量</a:t>
            </a:r>
          </a:p>
        </p:txBody>
      </p:sp>
    </p:spTree>
    <p:extLst>
      <p:ext uri="{BB962C8B-B14F-4D97-AF65-F5344CB8AC3E}">
        <p14:creationId xmlns:p14="http://schemas.microsoft.com/office/powerpoint/2010/main" val="163176463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F6CBD-6632-4258-A1FB-3749E729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CC4B4-932F-45B5-879B-F4EB4BA9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C4D8B-17E0-4A2F-BF1B-A532AD5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B199C-39AF-4CAF-9823-6A1E080B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35365-F2EF-46E8-890D-52019128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BBE74-02DE-44C6-B812-947153CD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C4120-8BC1-4AC4-9261-D92173F6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9A1F3-F019-41D1-B77B-E9C3C016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E653B-2434-4C30-B05A-7FA0FA8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B7D44-FCCE-4187-A2FA-C4E37E6D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7970B-CB9B-44AF-85C9-7EBEF675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BA25D-3028-41A6-A60C-E57F88A3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48394-7140-443F-A197-0BD4B22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AEF9D-394E-463A-9376-064B6147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12081-2740-4938-826A-2EEEABF3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F91ED-18CB-4C8E-AA9F-9F247FF7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8D437-5945-4F33-B26B-6455755D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B13E7-9574-4081-9AA2-F805D25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A8A52-9867-4F4B-8C62-21898D32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5B53B-22F6-4CDE-AB18-99F75D9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3747704E-B647-408E-A298-A8E487D4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20BB4A-8092-482B-9D46-F1544A3E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A7F0D-6829-4F53-A122-CBFAA539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09B64-21E2-4495-A132-4D6C1891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PPT第02页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493BDC-32BC-42EB-961D-0BA2A0D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核心判断：先做内容闭环，再做平台放大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81DEA0B0-314C-4564-83B0-47125FF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明确项目推进顺序：先通过AI漫剧内容业务验证闭环，再把有效流程产品化为OPC平台能力。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FA5B1-452E-474B-9D1E-E91AFFF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7A9997-5FD7-44D9-B63E-CA5B11E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2979D3-4F2E-4DBF-9523-AA4B068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先做内容闭环，再做平台放大。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先验证剧本、成片、投放、变现，再开放工具。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没有样片和案例，平台很难销售。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有了SOP和数据，平台才具备商业化基础。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222AB-02BB-4C50-B88A-AC7E020C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6C672-3675-4970-8F4B-FFC72CD2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1695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DE16E-3528-4669-9A42-3AD17875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61A03-05BD-4266-AB09-D75D23A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内容验证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2B1154-24CA-4A62-97B1-52836339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88EB78-8CE8-4973-8AFB-C50B4737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1695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DFDFA-3C6B-439D-858B-A70B7ED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D77E8B-EC3B-48F3-848B-E1CBC89B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平台工具化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861234-2D1B-483E-A480-87FF1213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C88216-F771-4547-A981-B9F6CD5B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1695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542280-F47C-469D-81B6-2E4B067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AA2226-8DEB-4731-9B6F-58140968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623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生态交易化。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A957EB-5A02-4B8A-BB7C-CC33822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2C5229-9E42-443C-B006-EF767431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3E3983-D401-47D3-8ED9-154FDC2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样片完成数量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023E09-6EB6-43A0-9D57-F0F2360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070146-B2FC-4133-8E69-A673DCBF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单条样片投放数据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97E60F-F90D-475E-B671-8B1DD92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450788-3640-44D3-BDC9-48005F6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SOP沉淀数量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54BDCD-A073-49A5-8F4F-EE31677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3B4A91-0832-45BD-922E-11E27DD4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可复用模板数量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7A95C0-6963-4DC4-B164-10FB3371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EF6DB0-E9FC-45A6-AD19-FE80EB6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平台内测用户转化率</a:t>
            </a:r>
          </a:p>
        </p:txBody>
      </p:sp>
    </p:spTree>
    <p:extLst>
      <p:ext uri="{BB962C8B-B14F-4D97-AF65-F5344CB8AC3E}">
        <p14:creationId xmlns:p14="http://schemas.microsoft.com/office/powerpoint/2010/main" val="185907600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31BFF-2AAA-40BE-9E0E-C9F1500B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E4582-F3FD-4236-A518-E18DC203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FEFBB-386F-4686-9578-974C713B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83591-43FA-4D39-963A-5544773A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B1FB8-9D64-477D-B5E8-20A5ED73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65D46-E10A-4F38-9CB7-21C7ECB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DCE00-886E-4DFA-9262-50648161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A4C47-79ED-4872-AAD1-993074B2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BDA4F-6227-4DFA-8BDC-ADB6DAA0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55404-480F-4683-B163-5AB3205D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0C2C7-6DCB-42AB-BD74-D8E69BD6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AAEC0-9E7C-42B4-8A63-1A0F4454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35C09-1B40-4B41-9BD0-4DCF62E8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7A31C-34C1-4599-934D-CA8F267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C148D-BF2E-4816-AC1A-A965B760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91366-D832-47DF-8320-29696E6B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AAF09-140F-4344-A9E1-D67AAC88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E5BEF-6280-4CAA-ADC6-7F9A72A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019AE-7CED-4711-A9EE-51462A66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25F60-B466-4FFB-B1D4-3744FCB0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B74B2AB1-E4E5-4F20-9DC1-A0D072D7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F94532-3F11-4B85-B6CA-7D28BFB2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65FA3-BF17-402E-8420-97B63973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46623-7AC3-4170-970C-E3F1EAE0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PPT第03页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D25E6E-321B-4A09-B983-886ECE3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市场机会：短内容增长，但生产方式低效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B7EC223D-2FCE-4ADE-B17C-A74F508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说明为什么现在适合做AI漫剧，以及为什么需要OPC线上制作平台。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01EE8-3766-48BA-9A1A-8978DBD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DF91E-BFEF-4C32-AD61-015EFC2C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5722F-F289-44B3-B02A-A0971EA0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短剧、漫剧、短视频广告都需要高频内容供给。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传统制作成本高、周期长，难以支撑矩阵号测试。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AI工具分散，创作者在多个工具间反复搬运。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行业缺少标准化资产、稳定角色和可追踪生产SOP。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8EC38-781C-40C8-B767-44DA400F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生产方式对比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3283E-AB07-4DB9-914E-93773094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22D3EE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D5EB1-B6C0-49AE-8EA4-80EB5ECF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传统制作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F2D24B-8745-4250-8D18-F64628AC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成本高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周期长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矩阵测试难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F3FCB-FF74-4A3B-B8E1-4F026BF4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1B30">
              <a:alpha val="88000"/>
            </a:srgbClr>
          </a:solidFill>
          <a:ln xmlns:a="http://schemas.openxmlformats.org/drawingml/2006/main" w="9525">
            <a:solidFill>
              <a:srgbClr val="34D399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9FA874-749F-4AB5-8C4B-E0053188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AI工具分散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1FAE39-3D29-4885-B80F-F28DC74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反复搬运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资产散落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协作困难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521FE2-DD1F-4A46-8787-2C15FC2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F59E0B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6284D5-1F68-4713-A51C-D018A98A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OPC平台化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40336C-1DCC-49FC-9D94-A4A0376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统一资产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稳定角色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SOP追踪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0B910-EAD0-49C0-AC06-EE3A44A7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6FED80-1771-43B5-9E52-6C0E8AE5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15BC0B-75BA-475E-B785-DB90C86E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单集制作周期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E2F381-AF02-4CD8-BAFB-D7BD7A5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3ADA3C-6980-4D06-AC0F-CBA4F96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单集制作成本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DDA7B2-6627-4004-B3CC-DEE9DB23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D73BF0-FB14-434F-9E42-5544F75F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工具切换次数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AF2DDD-E1B1-4265-832B-BF2F684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912841-7E32-41B4-B6B1-E67BC57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素材复用率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C63C8A-D95F-4E31-B4A9-4A9C570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405265-97E8-4412-8D6D-F9376B07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项目返工率</a:t>
            </a:r>
          </a:p>
        </p:txBody>
      </p:sp>
    </p:spTree>
    <p:extLst>
      <p:ext uri="{BB962C8B-B14F-4D97-AF65-F5344CB8AC3E}">
        <p14:creationId xmlns:p14="http://schemas.microsoft.com/office/powerpoint/2010/main" val="155273948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78E01-553A-4E94-89C4-5DFCBFD3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83042-7C26-416C-97AE-83ABE66C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7E81E-07D4-4766-BBCE-540FA3BB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A8FD7-9624-4A09-A225-B4C3E9F9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72403-D202-430B-9461-E37232F7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CC940-C270-42E7-8A14-3D2942D2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BDA7-4981-494C-9F46-3A65E4F7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6A7A5-1F0F-4F9F-A210-266D43C5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55B9B-A13F-4F4F-ACAD-DE37FB6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2BC48-934A-4861-A119-75D1741A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C6D82-E3CA-44DF-AD23-CFB53FC6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EE08D-FBAD-4896-9C4E-8E643090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ADF2E-8659-443B-B862-5AF714FE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24441-DAE2-4691-B0BA-80C1311C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D359A-8C9C-41E2-984B-269D9C3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A1654-D383-4F64-A398-04F3E477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FF4FD-4783-4ABE-A15A-9F84E109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7B6F8-07B7-4EAB-8A0E-C2B343F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34E40-EB3E-4EE1-B326-797924A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887E3-C5E0-48CA-BF99-BCFD1F78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FB77F920-0F16-4648-A887-635A9E4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1EAE60-5CD4-482D-8878-E3C00B50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1102A-925F-4166-B0C6-D94F3B40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84EAF-7C0D-43F3-8930-A9A1CB15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PPT第04页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F7EABC-FA19-4120-BEC2-1589CAA1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业务双飞轮：内容案例驱动平台增长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527112D2-80B6-476C-9DCE-6DEA1681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说明AI漫剧内容业务和OPC平台业务如何互相促进。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A4356-8529-4446-A784-A00833B5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1CB1C-B1F6-479F-A8B5-3BFF9DC1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E4655-D0EE-4BA0-960A-639B506C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内容业务产出案例、数据和SOP。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OPC平台沉淀工具、资产和模板。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平台提升内容生产效率。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内容案例反向带动平台获客和培训转化。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9C283-A90D-46DE-BF4A-3AAF9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双飞轮关系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5C79DE-AFF3-412F-B30A-1D9EC93B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552825"/>
            <a:ext cx="1638300" cy="16383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2D3EE">
                  <a:alpha val="40000"/>
                </a:srgbClr>
              </a:gs>
              <a:gs pos="62000">
                <a:srgbClr val="2563EB">
                  <a:alpha val="14000"/>
                </a:srgbClr>
              </a:gs>
              <a:gs pos="10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7346FD-6D92-405C-9ADD-E0472B69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52875"/>
            <a:ext cx="1104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1E86E-A90D-428C-B0E4-A787E53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0" cy="-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D3EE">
                <a:alpha val="65000"/>
              </a:srgbClr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F454A4-790B-4FC5-979F-3CC1C88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57475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22D3EE">
                <a:alpha val="78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035AB0-4867-4FDF-9CAF-2A168BDC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717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内容案例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D48D3A-7360-4BE7-9DC4-55AB287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1237334" cy="-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4D399">
                <a:alpha val="65000"/>
              </a:srgbClr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44F213-0B6B-408D-87BB-8BBD4957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209" y="3371850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34D399">
                <a:alpha val="78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FBF5A2-5484-43E7-9648-08557C52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509" y="34861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数据复盘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F95C1A-E91B-49E4-B033-75F4B63F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1237334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>
                <a:alpha val="65000"/>
              </a:srgbClr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1E34A2-83BB-424B-A4D7-E2848C03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209" y="4800600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D17FB4-E396-4CED-B159-C35ED709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509" y="49149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SOP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5398D2-3C1A-4F18-B19F-CADAB31E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8BFA">
                <a:alpha val="65000"/>
              </a:srgbClr>
            </a:solidFill>
            <a:prstDash val="dash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E2257E-6342-4B8F-B03B-46F37E1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14975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A78BFA">
                <a:alpha val="78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415C0C-2A12-42FE-B152-F2AAFBE0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6292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平台工具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5CDA2D-56A5-45DC-A4CD-4BF905C9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-1237334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70560E-DC57-4110-8AA1-678190EE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541" y="4800600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38BDF8">
                <a:alpha val="78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B2BABE-32D3-46EC-B14E-547523C9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841" y="49149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资产模板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DC4740-8490-4695-9DDA-2699E496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-1237334" cy="-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472B6">
                <a:alpha val="65000"/>
              </a:srgbClr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5F10B6-150B-4D7E-BBA4-EA85E63F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541" y="3371850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F472B6">
                <a:alpha val="78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6A652E-7841-4B7C-ADCA-6EA6F43A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841" y="34861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培训获客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90B589-D20D-435B-8747-BA4DC76A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603904-01C4-412D-B219-F4824B2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EB98C4-80CF-4C1F-8165-0808E78D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内容案例数量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EAD20C-7E96-4D5F-95FE-FF41C10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DCFD1D-B068-45BE-8274-0E56F7E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SOP标准化程度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1877B7-99D4-4638-8417-452B014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7449DA-040C-4991-AF03-FF3BFE4B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平台复用资产数量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5D0067-8A0B-48D3-ABBD-3A5836F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117FE9-6AF2-4A73-B994-E400C77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培训转化率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5389E0-C276-4B5F-9B5F-453FDDBB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69558E-6493-4D22-95E4-32049A41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创作者注册数量</a:t>
            </a:r>
          </a:p>
        </p:txBody>
      </p:sp>
    </p:spTree>
    <p:extLst>
      <p:ext uri="{BB962C8B-B14F-4D97-AF65-F5344CB8AC3E}">
        <p14:creationId xmlns:p14="http://schemas.microsoft.com/office/powerpoint/2010/main" val="137049943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17033-E2A2-41E1-9479-8C81667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802B2-C26C-4A25-8F23-95A98873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03407-0941-44AF-9417-5B47107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DC8BE-9D39-4DFD-B505-0F65C82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4494E-9152-4696-8F61-4E4AB29C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7694C-512C-4D57-A5E6-EF441A2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7C076-6789-4453-9FDC-5FAC6CAE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475B0-295A-40BD-964E-4314BBD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35BA2-54F3-4178-ADC7-0B189F43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BA184-1B2D-4E4F-8D76-39BE3566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1B531-4D64-41A6-80CF-648D51B7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24C01-C3FD-4802-99F5-D4C0F52C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37871-43E6-45B2-AF10-98DA933F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692C3-085C-417C-9107-079B223A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A184C-7421-45F1-ABA8-98353201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252EB-88FD-4F50-9FDD-01F35BEB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02C6E-4B5D-4C7D-B2D3-BB891D23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0B80F-7FA6-460B-93C0-ADD99671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57D37-0B3C-4BA4-BEE2-FB113432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397B5-E3A8-4DBB-89CE-46417152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C8402696-C57F-41AC-B152-9AFAB23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BB19D6-4FB3-47E9-95EA-706FD5F3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0A920-2055-42C3-BB0A-EBD1A4BE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23A6A-8B35-4D0E-9F99-8E083D1C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PPT第05页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42C4C8-6431-4081-A87F-65A3E235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AI漫剧剧本生产链路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B8747EB6-AAAD-4F0C-A24E-6035FEC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回答第一件核心事情的前半段：AI漫剧剧本怎么生产。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EAF22-D2A9-44B7-BEE3-F16A6C07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5F669-4373-44C7-9CF1-4BC25F70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CE2F6-E0FD-44C9-8346-F024EA41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输入：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题材、人群、平台、集数、商业目标。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生成：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选题、梗概、分集大纲、单集剧本。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拆解：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人物、场景、冲突、对白、旁白、分镜。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输出：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可直接进入生产的分镜脚本Master。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3DA33-3FDC-4200-AAC9-99DA5F9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F8203-8918-4E86-8882-782F7E77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56350B-2F57-43EC-8C4E-924ADC95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9C8BF-B345-4002-84BF-D3913F3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需求输入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6CE8CF-2BC3-426F-89D4-BC8955C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43FB03-56DD-4E68-AAB3-C996671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758256-B943-4AB8-A57D-2F29628C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9F0087-BCA3-407A-92D2-DAEB7C4F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题材标签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14DAB0-D899-4BC9-AB74-89E16832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22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85DC0A-DD34-49B8-8DF3-B90E0357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7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841206-7222-4F49-A16C-B7BBACEC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6854A3-30AD-425C-A765-19264C0D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剧本生成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056CC5-9FFC-46FB-959F-8CD61111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3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D9C132-2AC6-4EEF-A1B5-4BCFCA73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BFBCBE-3A1B-4F4C-8449-8D85FC2A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9F3FEA-432C-4C6C-8D11-0BF9D7B4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分集大纲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DFB07E-A147-4E27-A3E1-F4ABECF1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827A0E-DAAE-408E-8D4F-9B30C104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38BDF8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B0EFB0-F935-40D4-A6E4-531247C1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03AC1A-0184-4069-9375-FA2D2D50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分镜脚本Master。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B1E69E-63A4-4081-AF1B-CD5D7282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9AA717-6810-42D4-ABCD-D4F1256F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C73B2D-A3B5-4B26-8E7F-A4149FC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剧本生成通过率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7598FA-AF69-4CCC-B30E-A93E20F2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EE25EA-40E7-40BE-BBBB-0B1FE3BC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单集剧本生成时间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F06D27-33E4-441D-AC70-A6EC7FA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C9CF8A-7495-4842-B868-53C807B0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分镜字段完整率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56DD65-6FF9-41C5-9D10-C6ECD8A2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C8B8B7-A83A-4AAB-9F89-5911A50F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人工修改次数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433A91-A400-462E-B4BD-2BDC3A2D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6E1161-3887-4349-BB69-BBBA5158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剧本模板复用率</a:t>
            </a:r>
          </a:p>
        </p:txBody>
      </p:sp>
    </p:spTree>
    <p:extLst>
      <p:ext uri="{BB962C8B-B14F-4D97-AF65-F5344CB8AC3E}">
        <p14:creationId xmlns:p14="http://schemas.microsoft.com/office/powerpoint/2010/main" val="94776236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1709D-6174-4A07-A5BA-11D6ACC1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49A0B-F0F2-4426-AA71-8EEAA11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9D28E-C9B3-49C3-AE29-61E1A91E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0EFD5-7D01-4863-8861-2142E31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B7C51-8EC8-4925-8F48-F11A80D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03B2E-A447-4F8E-8D7B-AA6E0EE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30DDB-A1E6-43DB-AD5B-6193066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C4827-68A5-4FFD-983A-455FCC3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3BF61-E79C-4991-A550-F14652A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F728C-37C4-4623-B75D-6519E29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B24CB-0F2C-49E9-B292-84E34673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E9D1B-2C00-4DB8-8E8C-6DAC7666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CD565-68E7-42AA-9DE1-15AE5FB9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4985C-BAC3-4D3C-A1AB-5C850D0E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8A6C9-D285-48F9-B85F-A0FE5CD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50582-5D54-4AE9-A92B-C1F6185E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7B8EE-4D94-4D3F-9CAF-149EC826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FF18F-C6D6-40FB-A06F-34EBCF31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99A9B-2B35-4516-A8AB-E5497B0A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2D0F8-5F82-4CF7-B885-1C4BE5AC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31DD1A3C-7FF4-4AFC-94A8-D7EA73E7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10F30A-DCA0-488D-B49D-70F7530E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82E19-F516-48F4-AC6B-70C8A4CE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7A81D-3CF9-44AE-9471-2321E626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PPT第06页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594E5C-1F40-4F5B-85AE-F4C6247E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AI漫剧剧本标准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7D68B579-4168-45F2-B468-4863E4C9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定义适合短视频平台投放的AI漫剧剧本标准。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157FC-8D6F-448C-80EC-CF4E9207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ADE15-8486-4FA1-B418-283430B2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1F18A-0C18-4E6C-929C-C192D268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前3秒必须有钩子：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冲突、悬念、反差、身份信息。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中段必须有情绪推进：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误会、打脸、反转、拉扯。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结尾必须有动作：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追更、评论、付费、点击、下单。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剧本必须结构化，才能进入AI生产流程。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6A9245-E2F0-4ACF-82EF-EA643AA4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三段式剧本结构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9F0413-155E-4D74-B831-F192DB54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22D3EE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3C6F4E-B2FA-4125-BBCE-F6A083A8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前3秒钩子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4FEEF2-8CCB-4465-BF35-9F027A93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冲突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悬念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反差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身份信息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14ED09-0EC6-4E35-85C2-7C222D8A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1B30">
              <a:alpha val="88000"/>
            </a:srgbClr>
          </a:solidFill>
          <a:ln xmlns:a="http://schemas.openxmlformats.org/drawingml/2006/main" w="9525">
            <a:solidFill>
              <a:srgbClr val="34D399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AA9FD2-744C-45FF-8182-A3723884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中段推进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DEB090-8EA7-41A6-8F42-5681FEE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误会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打脸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反转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拉扯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D5CF71-2773-4CBA-96DC-B3EA635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F59E0B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E638AF-C7E5-49BB-8B02-F425EAAC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结尾动作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EA85F4-44B1-448F-B7EF-6D421F8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追更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评论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付费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点击/下单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4254B1-E384-463B-892B-AD242809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ACD12C-A50B-436B-8792-B634B866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B2EDD7-3131-4285-ADAB-FB13D7DE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前3秒留存率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F28148-AEC0-4A5C-94AE-6A8EC23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0928BD-DD67-48CE-B890-C93330F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完播率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EA1195-1137-48D4-BB16-ACF2B2E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FF7D04-D9E6-4794-BE48-526F65D9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追更率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CBF1F0-C152-4F75-9173-1AB64F85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ADCF42-D163-4ED8-9253-0782CCA2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评论率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40358F-EFA1-44D3-BE24-6687B962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2440EE-FD2B-46A5-B742-607E137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剧本质检通过率</a:t>
            </a:r>
          </a:p>
        </p:txBody>
      </p:sp>
    </p:spTree>
    <p:extLst>
      <p:ext uri="{BB962C8B-B14F-4D97-AF65-F5344CB8AC3E}">
        <p14:creationId xmlns:p14="http://schemas.microsoft.com/office/powerpoint/2010/main" val="142648792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5A8E47-85F7-4B69-9782-425E11C0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3639B-AA6B-4F3A-BC99-4DB4007D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E1FCA-8C96-4EAE-8406-88F10C27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5E17B-1195-41AE-A864-27A9B50E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1B3AF-7FAC-4934-B828-4457FA7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E0CAD-AABD-464B-AEBA-4023CF4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2D1E7-893B-46D2-8DD5-7817CB7E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87C7F-C597-4A56-BFD0-EDB1AC8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ECE4F-691E-415F-98CF-1F87A629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682A1-2D93-4928-986A-D2DBE4B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BA9FA-83AD-4FFB-AEB7-2F33047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0758D-0614-46D8-8606-B11E8FDC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B787F-5440-45BF-88DE-D3AD32F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0F9B4-7029-4A93-A916-A0358F58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EC953-63B6-45BD-B33B-E78490E9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D92F1-1FEF-40AA-AF37-F15C6F4C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6AB34-17E9-46F5-87DA-57C295CA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2A3B0-CB00-4C25-B046-350BD7D4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A3D60-B97B-492C-9ACE-39E6B9BD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A7D2D-8E82-4303-9C07-7D78CC97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B6CBC2F3-4FFF-421E-9AD5-C1E0339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75B15F-6CE8-4BB7-994D-A50E8CF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91FDE-8C24-4136-8886-57ED98CF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B39DB-93EB-45DF-BC2E-565E62B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PPT第07页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C825F9-A53E-49D7-9ACD-72EDABE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AI漫剧成剧生产链路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B6C5B0BC-6762-42D0-B95A-EEB2CD26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回答第一件核心事情的后半段：剧本怎么做成成片。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343AD-E0DF-4362-AE89-9803976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9ACFC-E2BE-47ED-A049-85040BDE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B18742-E963-42D0-8A3E-D7A1713E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锁定剧本版本，生成项目快照。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拆解角色、场景、镜头、对白、音效。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批量生成图片、视频、配音、字幕。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合成可投放成片，并记录版本和成本。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955AB-1694-44DA-AFB2-BE9DE4A4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CBCBF3-2C49-4913-981A-BD8A172D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688521" cy="990600"/>
          </a:xfrm>
          <a:prstGeom xmlns:a="http://schemas.openxmlformats.org/drawingml/2006/main" prst="roundRect">
            <a:avLst>
              <a:gd name="adj" fmla="val 24901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23D30-7200-460F-9898-5044BB4F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D205B5-DDB2-483D-9D22-BC0779C9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45992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剧本锁稿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DDD653-EDA6-45F8-A071-40962F22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721" y="35623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D788-1E8E-406C-B965-B0334770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3162300"/>
            <a:ext cx="688521" cy="990600"/>
          </a:xfrm>
          <a:prstGeom xmlns:a="http://schemas.openxmlformats.org/drawingml/2006/main" prst="roundRect">
            <a:avLst>
              <a:gd name="adj" fmla="val 24901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B89EC5-1606-43B8-857C-DC05F05F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321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EFAEC-7E5E-4C29-B874-0036FA6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321" y="3562350"/>
            <a:ext cx="45992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分镜拆解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FD496A-BBAB-44C4-83BA-96A59DD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493" y="35623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E114A-C94C-4171-BD8D-7BFCCB36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793" y="3162300"/>
            <a:ext cx="688521" cy="990600"/>
          </a:xfrm>
          <a:prstGeom xmlns:a="http://schemas.openxmlformats.org/drawingml/2006/main" prst="roundRect">
            <a:avLst>
              <a:gd name="adj" fmla="val 24901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B54484-6B3B-418E-BF85-F13B98C7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093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BC64D1-A470-40EC-8065-3BB34EE7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093" y="3562350"/>
            <a:ext cx="45992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资产准备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FC58B3-96A4-405B-A180-085E39EC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264" y="35623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7DDFA9-DBB7-4360-97B4-C332EB36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564" y="3162300"/>
            <a:ext cx="688521" cy="990600"/>
          </a:xfrm>
          <a:prstGeom xmlns:a="http://schemas.openxmlformats.org/drawingml/2006/main" prst="roundRect">
            <a:avLst>
              <a:gd name="adj" fmla="val 24901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EFE934-14F7-4D9E-87F4-1FE0BA8D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864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13CD42-44C5-4949-9EEC-EDB5B723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864" y="3562350"/>
            <a:ext cx="45992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图片生成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270D03-35DC-4275-8891-99016D6F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036" y="35623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430BA-633C-4D79-85E3-EB4F9113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336" y="3162300"/>
            <a:ext cx="688521" cy="990600"/>
          </a:xfrm>
          <a:prstGeom xmlns:a="http://schemas.openxmlformats.org/drawingml/2006/main" prst="roundRect">
            <a:avLst>
              <a:gd name="adj" fmla="val 24901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38BDF8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A4A49A-E099-4916-9A0A-4F17EDB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636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CC9147-5A74-4041-9D1C-1A100C2E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636" y="3562350"/>
            <a:ext cx="45992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视频生成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BD461F-F9F9-421A-9016-13BEB21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807" y="35623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DDA025-10E9-4A57-B8C7-62F5A849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107" y="3162300"/>
            <a:ext cx="688521" cy="990600"/>
          </a:xfrm>
          <a:prstGeom xmlns:a="http://schemas.openxmlformats.org/drawingml/2006/main" prst="roundRect">
            <a:avLst>
              <a:gd name="adj" fmla="val 24901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F472B6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A7C0F6-DAD0-4C5E-BC73-A742F34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472B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72B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4FC400-5321-4CF2-90B3-63B364F4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3562350"/>
            <a:ext cx="45992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配音字幕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7BC64A-3780-4475-BCC2-978241EE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579" y="35623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C2BC1B-F5C7-4473-ACC1-7509531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879" y="3162300"/>
            <a:ext cx="688521" cy="990600"/>
          </a:xfrm>
          <a:prstGeom xmlns:a="http://schemas.openxmlformats.org/drawingml/2006/main" prst="roundRect">
            <a:avLst>
              <a:gd name="adj" fmla="val 24901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4ADE80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4090FC-BA33-4FF4-BC70-18C691F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179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C55E94-BB00-4EBE-9D32-18B2EC3B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179" y="3562350"/>
            <a:ext cx="45992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成片导出。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C1C49A-0A18-41DA-AC36-9BD8599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151D84-6BAD-45E0-8916-B1CAE22A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4861DA-3B68-45B8-9B1B-5BF78DCC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单集生产时长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C7F5D8-F8D1-4845-ABDA-45AA368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FDF33B-5FCD-4604-9926-0821B38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镜头生成成功率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54715E-82E3-4C5E-B841-5ADA89C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F91D64-5B3F-4ECC-BE3B-1B9122F0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视频生成失败率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357667-A6BC-4569-9CAD-3B874DC7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781EF1-A720-4458-B58E-D5B59A3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单集平均成本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610C1D-6A40-42E7-9EAF-DB46FED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0F1B64-BB16-4BB5-BBD7-99935031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成片质检通过率</a:t>
            </a:r>
          </a:p>
        </p:txBody>
      </p:sp>
    </p:spTree>
    <p:extLst>
      <p:ext uri="{BB962C8B-B14F-4D97-AF65-F5344CB8AC3E}">
        <p14:creationId xmlns:p14="http://schemas.microsoft.com/office/powerpoint/2010/main" val="1417665393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DD45A1-81DE-4C7E-9605-2315039D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83DF6-BCE2-4498-9938-06AEF590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8683-9649-4420-BAE8-30FF185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84DC-CF69-401A-8D8B-CAD97DE4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53950-9F54-4F38-B446-55C6392A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53F37-E5A9-406A-89A4-01C519BA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C088A-7935-4A20-AADC-E2863303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08244-D089-4C68-B51E-D84BB3AB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AEC7E-E849-4E80-AD27-817F21D5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E4B0E-5E0B-4622-9514-8B5909A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36320-CFFA-4559-8100-6874240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F5F48-7C15-41CD-92E5-34F61760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0875A-7B5B-4BB4-9A85-DE9E0242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34FCA-3043-4603-A57B-2F18D6C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BDC6F-4494-45DC-BECE-3656A8F2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CC2D0-2E1A-4A44-8AC8-936A112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FDC60-D555-4FD6-8376-4DD2D54D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359D-AEB2-4C7B-8275-594F47CE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9028F-60F5-46F6-8E57-C5923FAA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4C57E-C899-4D68-BF9A-8978802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1D6B5AEF-41DE-4F6A-894B-1928B132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EE4C20-7447-45CA-A184-9EFD3F94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92F2E-1171-408A-A0AC-3A65A25E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9E3E9-10EB-4D7F-AF73-155AE79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PPT第08页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E3F6CF-A6D6-4223-AC9A-6779F940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AI漫剧质量控制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98CBEE81-C088-46FC-8DDC-E566423B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说明如何把AI随机生成变成可管理的稳定生产。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36606-C3E4-492B-B2CF-CF6ABD4F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BCB32-8F57-4A97-AB4C-6D696A54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4DEDFA-0BDF-4DF8-BF8A-78AD0B4A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生产前：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检查剧本、资产、Prompt、成本预算。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生产中：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监控任务失败、模型异常、成本超限。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生产后：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检查角色一致性、声音一致性、字幕和合规。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目标：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让AI生产可追踪、可重试、可复用。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DA34B-0661-41FB-B3E1-8E109FBD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三段质检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E841B-D48E-4C4C-ADF0-1A1C14E7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22D3EE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C9FCF-FC1A-49DD-B800-3E93137A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生产前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942C0F-CE1E-40C6-A244-DFB42F64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资产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Prompt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预算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7F7BCB-9312-4160-9B93-46095C88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1B30">
              <a:alpha val="88000"/>
            </a:srgbClr>
          </a:solidFill>
          <a:ln xmlns:a="http://schemas.openxmlformats.org/drawingml/2006/main" w="9525">
            <a:solidFill>
              <a:srgbClr val="34D399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7B28BF-8F81-4C1C-A677-994AA038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生产中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3E9FF9-6CA1-4845-B023-537D23DF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任务失败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模型异常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成本超限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C28F2D-842E-4006-AC5B-DEBFB091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F59E0B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09E14A-F1A2-4E66-BA14-48D554F9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生产后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D2F844-12DA-440A-AB2D-5A838D41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角色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声音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字幕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合规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C7F43D-E5EA-40D2-88A9-1EFE04C8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D9A8D0-F103-4398-9070-D4B29BB8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C8B0A5-0C64-4ABC-AB70-73C81758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角色一致性通过率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2DD8FA-F488-4939-B6FA-191F632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062A11-A3FE-43DF-9F1B-2F04DA1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声音一致性通过率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4B4DED-C6A3-476A-BB4A-7140B46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D5E500-CF95-411C-81EA-A7E399BC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字幕错误率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E4952A-A407-435C-A878-964FB78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3D6CA0-0661-4389-9479-E0E8F181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返工率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5E9011-30C2-4446-935C-0F4908D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F1BDCA-85EC-402A-A97D-FCAFE138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成本超限次数</a:t>
            </a:r>
          </a:p>
        </p:txBody>
      </p:sp>
    </p:spTree>
    <p:extLst>
      <p:ext uri="{BB962C8B-B14F-4D97-AF65-F5344CB8AC3E}">
        <p14:creationId xmlns:p14="http://schemas.microsoft.com/office/powerpoint/2010/main" val="40419846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8A8A9C-A9E2-4C77-8EAA-C251AE41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6D0D5-B92D-481B-A580-72BA5001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0CA92-A4A1-4168-9F4F-7C4E0758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634D0-4E76-4AFB-B85B-EEABC47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060B8-6DA8-4902-B1C0-81EA79FC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88CB6-A93C-4C5F-96F9-79F6826D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33860-584B-415C-8438-A65BD86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2B53E-016A-45F7-9118-A9A8EE80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BC94D-E08D-4787-A4DD-2AE8DD16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A13CF-FA31-4968-A6DD-BAE01B63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8E2F9-4DAE-4F0F-8061-313395E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A5395-FC22-40C0-AE0A-E2699B29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31961-18C2-48D5-9CE2-C4EFA08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4D82E-D010-4865-BB50-DB5DF90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914DD-62E0-4429-B2EB-DF3F1A52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E8799-6CA7-4495-85A4-861E94D9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642-AE69-44A2-8C7D-A11F4ED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BE1D1-48F2-4AA4-83B2-72604FE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004A0-38E4-42DA-8F22-C937965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6248F-6740-4BA0-A9A8-792C0FA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2AF3E49A-4FF8-4981-A3B3-0B8C139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64A1CD-24BC-4DAC-BFDC-7107F6E5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4EFC8-D6D9-4D01-8D3E-B57B720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4937F-E712-48EC-8BFD-F54C037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PPT第09页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28294E-A912-4F74-9B69-C79AC068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投放平台策略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B157FC3D-1B71-4E55-95CA-D8870B87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说明AI漫剧成片完成后往什么平台投放。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57D23-5045-4934-93EC-2709D356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8B5DC1-D028-4C61-ACF3-14CF9EB6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6E06CF-52C6-4BA1-A489-BB61AF49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抖音/快手：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适合短剧、漫剧、爆款题材测试。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视频号：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适合私域承接、小程序付费和社群转化。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小红书/B站：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适合案例展示、教程拆解和IP种草。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TikTok/YouTube Shorts：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适合测试海外通用题材。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24F676-1179-4777-9D6B-93E2AC4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投放平台矩阵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28BF6-4452-4605-A226-E3F2C229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22D3EE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FB4F5C-5A83-4BB0-B1E6-DEB7363E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抖音/快手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1FA258-4DAC-4913-A6F5-903D4DD3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短剧漫剧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爆款题材测试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C853BC-6BC0-4433-B75E-A950736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1B30">
              <a:alpha val="88000"/>
            </a:srgbClr>
          </a:solidFill>
          <a:ln xmlns:a="http://schemas.openxmlformats.org/drawingml/2006/main" w="9525">
            <a:solidFill>
              <a:srgbClr val="34D399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BDF327-9099-40AA-A66B-E5BFF3E1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视频号/小红书/B站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85057C-41C4-4C80-A493-92D64A52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私域承接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案例教程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IP种草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6B5B97-BD23-47F7-9E70-9E1811B8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F59E0B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2575F4-FFC6-40B5-A1EB-6EE62F79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海外平台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AFF490-C858-4FE4-99E0-BEED7A8B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TikTok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YouTube Shorts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通用题材测试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A94B00-548A-42ED-823C-861B345F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4EF030-108E-4941-97A7-503DA4C3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C9D9CD-A574-470F-99F7-4DCF2B14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播放量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01CB5A-657E-4278-B284-2980C40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9039D0-9062-431A-AE72-EA1B7F0C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完播率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D914F3-CB11-47A3-8627-C1A087F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99FB3-82CC-4508-B418-4433CE3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互动率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E1FDF4-AB89-42CB-88DF-2CD9D2FB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0C130A-E3C7-43B2-9B87-91F2BE0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关注转化率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348A63-DA3C-4F84-A18B-7B2C9F19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9B8591-283D-4A4E-ADB6-4555B5DD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投放ROI</a:t>
            </a:r>
          </a:p>
        </p:txBody>
      </p:sp>
    </p:spTree>
    <p:extLst>
      <p:ext uri="{BB962C8B-B14F-4D97-AF65-F5344CB8AC3E}">
        <p14:creationId xmlns:p14="http://schemas.microsoft.com/office/powerpoint/2010/main" val="134144542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6DB24C-A426-4BD4-A353-420DFAE7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22968-C34C-49E9-877E-E50C246B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D9182-2BD4-4F0D-A6AD-0D260037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2E52D-2551-415C-9AA9-2A9EBC79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F752F-7E4B-4E79-8956-F33F2DCA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2ECF5-0074-4F42-8918-83286F19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806AD-E628-4A4F-849D-4252A59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D7B51-B201-4148-BB39-D7B99953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49712-E381-4118-ADED-46CD27AC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C2851-770D-4610-B893-A5D3BA50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8EA79-B424-4B0D-AE25-7E242C15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E656D-C1A7-479D-B830-8C8D0007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196DF-AC43-4FF8-9C03-1FFC3BF9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6E5A8-F017-4606-A902-FF8C010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7B844-59AD-4E56-A614-C36179C0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1CBC6-E3E4-4497-9637-20474FF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4FF1A-2D0E-406D-BF4F-A686F765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83B71-0259-430B-A5D3-8939B5A4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9091E-6FC9-45C7-AE10-BA6A9234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923DB-AA00-4EBB-9E74-17FA4A64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C099B376-A68C-4E86-B127-E22C708B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16103A-96F0-43AB-8644-1CF5E775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C2E2E-90CD-43C5-B7AF-6AF1C615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BC5CA-DB16-4687-9EE4-DC6CD3B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PPT第10页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54A148-B3A0-4DC4-88E5-6E3D65F7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投放测试方法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3EE1CE58-EAD1-4472-BBFC-335C22BB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说明AI漫剧如何先测样片，再决定是否批量生产。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ABCEF8-50AE-4381-B61E-3B8266F9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CA2C2-E9E9-4D67-8645-86215142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C0E1D-4A0C-40B3-BF5D-631B508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先做3-5条样片测试题材和钩子。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用数据判断扩写、重剪、换题材或放弃。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爆款样片沉淀为剧本模板和分镜模板。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平台用数据反哺生产，而不是靠经验盲目扩量。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82291-3E01-4E35-9954-E94AC61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D64A1-39E6-42C0-B41A-89E9F268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5EC09-D2F9-4DD0-84B3-AD0D5BB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5765AB-5F3B-44A5-9003-3C3CBA8D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样片生产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ED972-3FC7-430B-B88C-D1D8A008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22828-FC03-4F39-AE07-CDB02195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BB292A-AF4F-429A-9A11-347FDC9D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E21C1E-AF64-4E6E-844C-CF990B5A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小流量测试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F6E296-518A-4609-B607-BA5EFB9D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22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FAE780-A6E4-409B-B0F3-B55B25E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7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FAD627-3F35-435F-BAB9-7195C10B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645E8A-2DF8-46AE-BF1C-074AE6FC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数据判断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5FCF2B-2A47-48A0-AC31-744C57E1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3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A77355-6E05-4659-9961-4A168D30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C36C2E-EC82-41F2-9318-B76A0A5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73573E-4748-4523-A8D4-1E522CD2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扩写/重剪/放弃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866B1D-0AB8-43A0-B1FD-943A659E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219135-1242-4C0D-AF40-9DCDC12A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38BDF8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F1AF6C-4304-46B7-A82E-7BEAA6A8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8680DE-66F0-4FB6-9CAA-19D5C58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模板沉淀。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9194B1-C9DC-4EF1-B791-EC07A77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98825C-3359-4D79-9B4C-BCEBEF73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0B0DB4-87D9-4760-AB41-B55B55D6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样片测试数量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386209-B3DF-44B7-AE3D-C1836D70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43AB5E-EA35-47D6-B90A-E9F8834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爆款率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E3966E-B312-4EBD-8FB8-836E43A5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63F526-A09D-4888-B8C1-0C03D4CE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扩写成功率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03B55E-9C30-4403-9762-4B20E1CA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4E4EB3-9AEF-4B33-A6B1-61FAC43A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重剪后提升幅度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D36F0D-610C-42BE-9599-B1AFB73D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3B6AE7-88AB-44E2-8DDE-8D9EBDBC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模板沉淀数量</a:t>
            </a:r>
          </a:p>
        </p:txBody>
      </p:sp>
    </p:spTree>
    <p:extLst>
      <p:ext uri="{BB962C8B-B14F-4D97-AF65-F5344CB8AC3E}">
        <p14:creationId xmlns:p14="http://schemas.microsoft.com/office/powerpoint/2010/main" val="51950941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90431F-A3D5-4D06-A4FF-91DF4604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FED2-26DD-41C9-8289-5E14192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A9BEF-375C-43EF-99AF-4B606CBF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EE07B-307A-4A6F-9B30-A0761505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72E69-56D6-424D-8E22-3ED0B217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86411-8EB9-4A87-A152-9734D02A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A4581-428F-47CD-8C65-4F5C523E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C8182-5C28-4602-B953-976352CC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A4526-A71B-47AC-A452-E468EB90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B5483-53F7-4DC8-99E7-60B87075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BCC76-5CD4-47AF-BB1B-0D5769E6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0BC6E-08E3-494B-B6B3-DE3C54E4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87F90-3675-473B-A1C9-7904257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B4B1A-AD97-4AEF-A37F-EFF6EF2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B388C-EC57-4A5C-9322-C9A06AC2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D9C73-F512-4C97-B189-EA37D229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7B222-44AF-453B-A18D-0BF2412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229E2-832F-4BE5-B409-43827C8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E0B47-CF52-4402-83D5-6447FFD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0BEC7-288C-417E-8D84-4F9D6ED2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6D7C8972-F960-4A4F-8F1E-EC58CF6B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2B5EB2-8567-4A06-A451-69D3C2CB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7371C-FF8F-4210-8BAF-7E5B18FA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A25F0C-CAB0-4A38-A692-6087879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PPT第11页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83927-1D56-4DE0-910E-2979FAA2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AI漫剧商业化路径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4463C115-47F9-4523-ADA9-1519CCB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回答AI漫剧投放完以后怎么赚钱。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AF5702-94CC-4EB6-A60B-6A7E4BF1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D805D-5877-40CE-BC68-C96982E8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EB9ED-2876-480E-8708-639BE213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内容收入：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播放分成、付费解锁、小程序承接。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电商收入：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剧情带货、商品植入、私域转化。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服务收入：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品牌定制、代制作、矩阵内容生产。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资产收入：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剧本授权、IP授权、角色资产、模板包。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D4660-26ED-4417-A10B-D7801162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97F1B-B05F-4774-8973-DAD4A7BD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1695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FA751-0F69-4C42-B819-687C7ED2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86C33-8B54-424E-B73D-A51DE43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内容流量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328A0-E8D7-4426-8EB1-39DF5641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472833-1C49-4F58-9494-C278A3C1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1695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1D3733-A621-4DDE-85E0-E48C322A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F4A1FF-8666-48A5-AB5D-1D700F2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用户承接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D873BC-E2D0-46CA-8C5E-ED608129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179821-7B2C-40AF-9CF1-C5F22EA3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1695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1B22DF-148B-43EA-8423-5B91B17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66D055-A6CC-48DB-8248-3B1D450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623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付费/电商/品牌/服务/平台转化。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33CB72-198F-48C4-914E-4D0C15C5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8E1300-34A3-4129-88B0-E377810F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3D127D-E318-4810-B84B-E47914C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单剧收入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315958-70C5-468C-A47B-E3FB1E7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CE46D6-AF8D-461F-930C-7DC33BCB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付费转化率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A8458B-0960-4D9D-A6C4-AE9A121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D39DDE-244E-436C-B103-5B0A6216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电商转化率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148D4F-26A4-48E6-BEC7-90EF240C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19F2D8-5C91-4EE4-B700-A2A7034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品牌定制收入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5499CC-A2E9-46AA-A9C9-667B39F8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5F0454-0390-417C-A389-A54CCD4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平台工具转化客户数</a:t>
            </a:r>
          </a:p>
        </p:txBody>
      </p:sp>
    </p:spTree>
    <p:extLst>
      <p:ext uri="{BB962C8B-B14F-4D97-AF65-F5344CB8AC3E}">
        <p14:creationId xmlns:p14="http://schemas.microsoft.com/office/powerpoint/2010/main" val="1758956914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38C91-2ACF-48FC-BF32-F924F86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07C1F-72B1-4D78-9DFF-1EF4E20C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665CE-E2C5-495C-BE0E-09394B1A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E7CA3-5DDD-44B8-A233-94971AB6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7C9B4-8EE3-4E2F-A4CD-640F6CB0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B4D86-1F9C-4682-B287-18FA9EF9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1A1C1-54FE-430E-A527-AE1BDF3D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0A046-976A-4CB9-8D02-BF9D423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4759A-5B59-4DEB-BD2E-5B3C68A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28F49-613D-4C6E-A53D-BBC24770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C22CF-2D8A-44E9-A40C-A12A04E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A55E1-DC83-4181-B1DF-16BEADBD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10975-F305-46E2-8E1A-B4EB46D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91659-2472-4EF9-A215-7458209E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6095D-93CA-4124-8E7C-9BEA56D9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B9742-CA16-4F24-8C8B-77D1FC75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1A56A-4915-475B-A70C-C05355F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8E621-0C92-4B6A-B71F-837B7150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22545-0EF5-4F46-93ED-2F36CF2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9DF5B-FE3A-4461-B223-1CA816AB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71463D0E-17A3-4087-BECA-3FBFA616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F1F3F1-12B9-4464-8F12-389E7975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255FD-FAD4-4A33-9875-D095AB5A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81972-28EC-41B6-9172-A0D2681C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PPT第12页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B2E285-985E-4CF1-87D4-9446FCA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电商引流与品牌转化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A2C8CA08-7AAA-48F1-AEBF-DCA760EB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说明AI漫剧如何服务电商引流、商品转化和品牌合作。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2B97A-90F3-4F7C-8825-8C032733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8DC7A-E9FF-4E38-BB34-5B0C394A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61390-A61B-40A1-9EE2-CF47EA86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商品必须服务剧情，而不是破坏剧情。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植入要从人物需求和情绪场景出发。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转化路径要提前设计：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视频、小程序、私域、店铺。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品牌合作可以从定制短剧、剧情植入、账号矩阵切入。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E59E7-9705-48F6-B6FF-E82A541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AACCC-1828-4AA2-9C61-BA1BDDF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1233488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15DA5-704B-4156-A21D-6E314AED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1625A3-3DF0-40EB-9B0F-90A6C34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10048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剧情场景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14A1E2-9264-4F93-A1C0-9F8C2C77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274A9A-AD6C-46C6-9437-3E7D28B3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3162300"/>
            <a:ext cx="1233488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A41698-A8D1-4123-A65C-4803C41D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38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B5AED-5781-4C83-8E93-656B8D79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38" y="3562350"/>
            <a:ext cx="10048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商品需求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0B8F9F-D810-4D1F-874B-0A8A7DE2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630C7-1CB7-41C7-82E4-3CED354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1233488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9706E4-E066-4897-BED2-9E9B8C1C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8CBA0F-CE35-4DF2-BB48-457B4CD0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62350"/>
            <a:ext cx="10048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转化入口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5A0DD8-DEDE-40AA-913B-33FC73C2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463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C381D1-78AF-4049-8740-23FD7A8B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913" y="3162300"/>
            <a:ext cx="1233488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29A9DD-6B28-4DAC-A883-60CC46F6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DDCA1A-5FF6-4F0A-BA6C-7F882D97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562350"/>
            <a:ext cx="100488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数据复盘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E3CFEE-18B4-4E83-9EDC-D1D9B790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822CA2-E8DC-4E60-8EA6-45B2E21B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C6A7C0-6159-4385-9FCC-259CE218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商品点击率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AB6374-9F00-419F-AF5F-D239B84B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29AB31-D075-4BBB-B4B1-9C90128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下单转化率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0188DA-7355-49EF-B6CD-34BF3AFA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6DC052-6899-4482-A8D1-71104CB6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私域添加率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736EEE-CD28-49BA-8982-D1C58C84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A436E8-DE09-4D72-B353-1BEC7975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内容完播率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4EF9EA-56E6-4D60-B905-ABE1A0B7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DC08C5-E440-4586-8954-A4CC14E3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品牌复购率</a:t>
            </a:r>
          </a:p>
        </p:txBody>
      </p:sp>
    </p:spTree>
    <p:extLst>
      <p:ext uri="{BB962C8B-B14F-4D97-AF65-F5344CB8AC3E}">
        <p14:creationId xmlns:p14="http://schemas.microsoft.com/office/powerpoint/2010/main" val="987079833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2F6B97-B172-4564-BCD0-48407B9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704C9-5335-4DF9-BB33-690E90A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11886-6781-4DC8-A96F-9409797C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F8D33-60D2-4B62-8115-B8E02DF4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13203-AE5B-49AD-82D1-0064C5D6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E395B-E177-4E53-8C6D-2A31350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8D6BF-B130-4AD0-A88C-2044C48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4E61C-40A6-4A3C-8CC0-3D81CAF9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2479B-9675-4B40-9C3D-07866A73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8A035-529B-4A75-BEB0-BEBE91E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7209C-0A6D-49AC-8165-EFBAE05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8C228-2C7E-442C-8BFD-A39CDA37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88C8E-E170-41BD-A238-8F2F1E0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508E9-9C9C-439E-A778-E8CA8813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FEA12-1932-470A-A4F2-A71739B3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C9723-18C1-48FD-A0A3-D644426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F2C50-5CFE-4420-8981-91F4024A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2D15E-0444-420E-AADE-F4F49B98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8BDD5-C1C4-434E-9CA3-4498BF71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3F2DC-8351-493A-B115-B933AA0C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D5F0CB89-8A8A-4F96-ACB1-411A99DB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F1EEBC-AF40-4897-8094-AF8539B2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A1A1-4D92-4845-A74F-45CB1AEE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268F9-3261-46C6-A2CD-7C2F1CAD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PPT第13页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96963F-5F1D-46D0-9478-A3C98826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OPC平台定位：线上AI漫剧制作平台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F05FB19C-CEF3-4BCF-B65A-B8B670F2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正式进入第二件事情：OPC平台是什么。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758FF-6977-4293-956A-402DDEEB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921BF-4A2D-4F9A-ADA2-4A07D3A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1B53CA-F643-47D8-BB78-923DE6A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OPC是线上AI漫剧制作平台。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覆盖从剧本创作、分镜拆解到成片导出的全流程。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平台解决工具分散、资产散落、角色不一致、成本不可控的问题。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先服务AI漫剧生产，再逐步扩展到培训、交易和生态。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EAD5D9-EBB9-4C61-B0AE-D51DB76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平台工作台示意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E7D82-CC76-49E9-BEED-A17444D9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22D3EE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F87367-D8D2-4590-9467-EE4B52AA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项目管理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34458-EC70-449B-A385-078A76A7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剧本版本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项目快照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任务状态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ABD824-D7E7-4871-B429-9A8E058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1B30">
              <a:alpha val="88000"/>
            </a:srgbClr>
          </a:solidFill>
          <a:ln xmlns:a="http://schemas.openxmlformats.org/drawingml/2006/main" w="9525">
            <a:solidFill>
              <a:srgbClr val="34D399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4717A0-E94D-4D1E-8C58-3F44240A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流程画布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AC3112-9AD5-40DD-A5C2-87642ED6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分镜拆解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生成队列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导出记录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9D39C8-8083-4663-9998-25595E42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F59E0B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ED2ABD-3139-4A8D-B478-B68B20E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资产参数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41BD52-952F-4AA1-A03A-1CAB3EA6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角色场景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模型参数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积分流水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ADA68C-6F4B-45BE-9DD7-0C2A42FD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0713CC-E527-4AB4-AEE6-1F91D343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F9F1D9-8D91-4B66-9AAD-EEE380C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平台项目创建数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C87136-60CC-4C4E-ACF7-16ECB22A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AB7620-B9CD-4FC3-BA21-B8FF58F3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剧本到成片完成率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12D2F2-1399-4EFC-A180-53579A54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3A7097-D5B1-49EE-97C0-40F520A1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单项目平均生产时间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951C0C-671F-43B1-AFD2-A6D954A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2D7D5C-29E6-4AB8-8C63-A84D0FB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单项目平均Token消耗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02B65B-296C-4A5E-8C38-3E69BD2E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540435-40E3-4AD6-89E1-F6D29E7E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活跃创作者数量</a:t>
            </a:r>
          </a:p>
        </p:txBody>
      </p:sp>
    </p:spTree>
    <p:extLst>
      <p:ext uri="{BB962C8B-B14F-4D97-AF65-F5344CB8AC3E}">
        <p14:creationId xmlns:p14="http://schemas.microsoft.com/office/powerpoint/2010/main" val="1151119148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64AA1-C62F-4BE3-8576-2D45213E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18F24-FA78-4D59-B37C-B2CB480F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90386-77BE-43BE-BCE3-A076413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22611-3803-4C05-8048-674BE1AF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BFBBE-26B7-4D5F-8C03-E8E546AB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342D8-4269-4031-B580-FDB23EC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0BB5F-D3F6-44A3-A45F-07A0F1E2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4A48A-D793-4023-A23F-479E4FD4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E9A8A-D5D2-4DEF-A268-BB9BC6C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C4DB8-FE4E-4469-8B06-826AC564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468B0-54F0-4CDD-81EA-650E4EA9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35CDB-6B2D-4492-B14F-E2579F09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4363F-52CF-48F8-BACF-7EC0C01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F3495-B57D-4DF0-A888-1B26F2D4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6AFF7-2C86-4562-8381-E36E9A1C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A20B8-B0AA-42D1-B6E6-F98EE719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54824-484D-42C6-8F98-C68E9D7E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CB3F6-B033-4044-8E11-ABE4C8BD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4F643-A2FF-43A2-ABD4-DAE96365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E3ED3-92AC-441A-8318-3798C0AE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91581E66-7896-4419-A6F4-CF9A98E7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91C83A-0916-4654-BF68-25CF24CE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AA801-4FEC-4CF3-B02D-E924858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BB229-E9A9-413A-BFB8-0BD45858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PPT第14页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50ED10-5E9A-4ED6-B367-F0D6D21C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OPC核心功能：从剧本到成剧全流程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A70A39A9-3FB5-47E0-971E-A4B632D7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定义OPC平台P0阶段必须具备的功能范围。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07FED-A6AC-4E60-AEFF-2FD94C6D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5F269-0B01-41C0-A7D6-C3206D7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5A16F-4312-4CCE-A80D-FEAA3A56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剧本创作：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选题、梗概、分集大纲、单集剧本。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分镜制作：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镜号、景别、动作、对白、音效、Prompt。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资产管理：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角色、场景、道具、风格、音色。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AI生成：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图片、视频、配音、字幕、音效。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成片导出：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剪辑合成、版本管理、成本统计。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A2C44-1CFB-4A9D-B542-0BF1E56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8104E-4D5E-4086-A7C8-B7FC6AD5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AF2EC6-8387-4542-9DB1-AB64504B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1EF7C7-C898-4292-80D7-4DB9461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剧本创作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51A7F-056C-411B-B4E9-2C804E1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14B519-BF4C-4AF6-9502-89E7B2B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0BA32-2131-4334-AC97-CB49BD49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06ACE2-580E-4B2A-9652-2EF0D5D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分镜制作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AFF49C-E749-4DE5-80AF-D5B7FA74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22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22545A-E845-4AE6-8BA2-0E9DBFDC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7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DA9B63-F584-41BE-B395-A55774AC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094E1F-7961-42C2-9B19-ADE75AC2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资产管理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3F5CD8-C33C-4D87-B8BC-452D80F2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3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9DB69-A4B3-4EE4-A22A-DACE118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65A5A6-5286-4878-9266-1B017110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7F60AB-5D83-49B7-BD71-B59612F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AI生成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0321C5-5C9D-4007-B45D-0DCD7A6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0DEF69-BC29-400C-AB01-6E48A0BD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38BDF8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6016A8-1AC1-4880-8348-682581C0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442BBE-4416-45D7-9E94-64576265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成片导出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888162-5559-4499-A422-E02C7861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68B799-7AB7-4FDB-9EDA-F52B5470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DF63E6-14B7-4DE5-803A-AEC8F5E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P0功能完成率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5E246F-669D-414D-8A66-AB0703E3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E4764A-04CE-47B5-9EF1-0D1A387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剧本生成成功率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B021A7-03AE-48DD-B6B3-396B7F1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1D0029-2FEE-4785-879B-3080C02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分镜拆解完整率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9CC852-F452-4619-9745-E9B0BB8E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501BE7-4B3A-4146-8F35-CC51D801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任务生成成功率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2E8A4E-982C-4564-A48F-E9E98D7A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7A1E32-438A-4A96-A518-5934FE06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成片导出成功率</a:t>
            </a:r>
          </a:p>
        </p:txBody>
      </p:sp>
    </p:spTree>
    <p:extLst>
      <p:ext uri="{BB962C8B-B14F-4D97-AF65-F5344CB8AC3E}">
        <p14:creationId xmlns:p14="http://schemas.microsoft.com/office/powerpoint/2010/main" val="645245360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B4520-0AA5-4788-B295-9B6A8800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1347D-85E9-4493-AEB5-B95799E4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9826D-0190-4959-9FE6-31CC425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41C9C-072E-414D-9975-AA25A102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3A335-0D56-4D02-B889-B92D96EB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17EBF-C51E-4FA9-B798-1330801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43FFD-CE92-40CB-BD0C-A1597917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8FFD8-AC3F-42C2-9F78-D925D60E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28A58-D271-4FBA-81EF-23634B02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F8BFA-6F74-4ABF-9BAD-A6D2E172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4C57D-0A60-4F1B-A0E6-D1018D1E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C2DE8-A33D-49A1-BD60-46931C98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E250A-8D81-45F5-B53E-350E25C8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49FB8-B257-49FA-9F4D-966E8B9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F8CDE-813A-498B-A6AD-A686588D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CDAC3-FF49-406E-A6E9-0CBE54DF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085EC-18EA-47A3-AE73-C88D5742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88F74-9AE6-4CEA-8DF3-AA37F999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5B082-0613-449E-8472-E0000F0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4B0FC-B956-44D0-B1E5-BCC7100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0A1C433F-E7DA-44F5-B6AF-885F2147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E3606B-A294-41B5-A742-EF5EAAD7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2FF67-4B5E-4444-9CE0-F8197C5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4A54D-69F9-49D2-9447-C2F19F8E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PPT第15页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782413-76A3-447C-9549-6DE77A31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OPC高级能力：协作、资产、模板、质检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55BA81C2-D82C-4C73-8146-C0015BC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说明OPC从单人制作工具升级为团队化、平台化生产系统需要哪些高级能力。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B0914-DC3A-411C-91D8-696C8458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F44AD9-4023-49A6-A9DE-B445064C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AA309-5BF3-4115-90AC-4B931B7E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协作能力：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多人项目、权限、版本、审批。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资产能力：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角色库、场景库、音色库、模板库。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质检能力：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角色一致性、声音一致性、字幕合规。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生产能力：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批量生成、失败重试、成本预估。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企业能力：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团队空间、API、私有化、审计记录。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1B4F8-838C-4C00-B66E-7DCCBC6F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能力分层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45BDC-A460-4ADC-8C6C-2161148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A1847D-D869-4CC1-A084-9E0492D9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6DE1D0-9CE7-46DE-805D-A85C7C7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基础制作层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2C265C-4DB1-47D1-A1CC-6FC8D3F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7DE46-D896-4400-8521-56CB0273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6695BD-D218-47EA-8693-96F4500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F3195E-B4F5-4CA2-B6E3-42E264B8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协作管理层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BC0E9D-BEF4-47BA-A86E-3320BE0E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22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635C54-C9E0-4BB8-B43C-D825E8B3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7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8749FE-E359-4ED8-B48D-5052195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CE6C29-2B24-452A-9035-B6D3704E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资产模板层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413920-BC56-47F9-BA38-D14644E5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3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7D7BF7-B52C-4370-9B8B-971BC892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2BDF3F-7E2A-46C5-8032-D38FE1BA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4CAAC5-2313-4609-9AE4-4FDE0170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质检风控层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424D4A-AC36-458C-B18A-E083CA1D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C7FD1B-FBA6-444C-9DFB-905E198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38BDF8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479622-8009-42BD-8B9B-4EFF6AF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AB2C2F-3733-4D11-B9F9-2D294384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企业服务层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F0C7C7-DD85-46E4-BC65-66A324C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7BDAC4-8196-4DFB-8B84-FCD40C54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EA125F-81CA-4080-9AE1-B5E1550F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团队项目数量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A111C8-8134-4A33-82C5-AD837B84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3F1091-92F5-495D-89F2-2FB411D2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资产复用次数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B336C1-D01F-4F0F-81E0-C634806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109012-4D16-47DB-94FF-9BB89A5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模板使用次数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5DB39C-0843-44C6-BBB2-332D2D51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82D1FE-6D9C-4F68-BF97-DF33E1F8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质检通过率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BB711D-DA71-4DA9-86FA-A4A76C25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71FEFB-837F-4961-8C9D-17E33B36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企业客户数量</a:t>
            </a:r>
          </a:p>
        </p:txBody>
      </p:sp>
    </p:spTree>
    <p:extLst>
      <p:ext uri="{BB962C8B-B14F-4D97-AF65-F5344CB8AC3E}">
        <p14:creationId xmlns:p14="http://schemas.microsoft.com/office/powerpoint/2010/main" val="2105337918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E0986E-A457-4091-9B1C-F7506B9C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FA98F-3EA2-4D70-B572-1CBF4E66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5F240-BF68-460B-A820-6E3E713A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D141-F348-4B29-8463-3E8EC1D6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B0F2A-D315-4C2C-B5CB-8C84D20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6C26D-0780-4809-9CF8-60955030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8B15D-D4D1-4D80-B2BF-83C2CD97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F5750-23FC-405A-B66D-4CAB583A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00EA9-A066-4B41-BBEA-1725ACDA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717B5-9E26-4F4B-9056-7880DFD7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56F51-7E68-48F1-9B58-1E09DB65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CAEE9-1DF3-4D7E-89F0-3BD1C4B1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665F0-D42C-4637-B8C8-A707EC01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B60B3-EDB7-4534-916A-68AEE0E4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15FF1-7FD9-4BA5-A435-108D84E2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FA31E-0C10-4FD1-8D6A-394D7E52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5678E-3C2E-492A-A014-539F8C73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F6935-8195-4A1D-A47A-9A1967F9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DF0F5-8E75-49F5-B585-87889FC4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E25A9-8E99-492F-B987-21167EEB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B239C683-35AA-4183-BF8F-DAAFCBEA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1B6643-C075-4AC2-9F95-68FB544B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0BCA6-FAF9-49EE-BA3A-96F77B15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5A0F3-337C-46F9-A5F9-C639B0D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PPT第16页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E1AB10-F76E-402F-94C2-DEED7486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OPC变现模型：Token、培训、模板、交易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5EA3FDB2-0A91-4A3C-B4B9-2906F153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说明OPC平台如何商业化。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6853F-B128-4B1E-A456-69D1233F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9236D-02E2-4D2A-9CE8-6B2BAC88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8495D-C842-41E2-B883-E522EE83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Token/积分：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按模型调用、生成次数、导出次数计费。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会员订阅：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按个人版、团队版、企业版分层。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漫剧培训：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课程、训练营、认证、陪跑服务。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模板资产：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剧本模板、分镜模板、角色资产、工作流。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交易撮合：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剧本交易、承制接单、代制作服务。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E23F04-C5DA-4276-A109-F6E87D6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收入金字塔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D5207D-2CAB-4299-AC8E-49E29705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4819650" cy="895350"/>
          </a:xfrm>
          <a:prstGeom xmlns:a="http://schemas.openxmlformats.org/drawingml/2006/main" prst="trapezoid">
            <a:avLst/>
          </a:prstGeom>
          <a:gradFill xmlns:a="http://schemas.openxmlformats.org/drawingml/2006/main">
            <a:gsLst>
              <a:gs pos="0">
                <a:srgbClr val="22D3EE">
                  <a:alpha val="86000"/>
                </a:srgbClr>
              </a:gs>
              <a:gs pos="100000">
                <a:srgbClr val="12345F">
                  <a:alpha val="82000"/>
                </a:srgbClr>
              </a:gs>
            </a:gsLst>
            <a:lin ang="5400000"/>
          </a:gradFill>
          <a:ln xmlns:a="http://schemas.openxmlformats.org/drawingml/2006/main" w="9525">
            <a:solidFill>
              <a:srgbClr val="BFF7FF">
                <a:alpha val="52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60CBF0-D1C7-4804-ABE4-5C292FC9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培训 / 交易 / 企业服务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6FF1E-591B-4382-99A7-DFBAF20C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67150"/>
            <a:ext cx="4000500" cy="781050"/>
          </a:xfrm>
          <a:prstGeom xmlns:a="http://schemas.openxmlformats.org/drawingml/2006/main" prst="trapezoid">
            <a:avLst/>
          </a:prstGeom>
          <a:gradFill xmlns:a="http://schemas.openxmlformats.org/drawingml/2006/main">
            <a:gsLst>
              <a:gs pos="0">
                <a:srgbClr val="34D399">
                  <a:alpha val="86000"/>
                </a:srgbClr>
              </a:gs>
              <a:gs pos="100000">
                <a:srgbClr val="12345F">
                  <a:alpha val="82000"/>
                </a:srgbClr>
              </a:gs>
            </a:gsLst>
            <a:lin ang="5400000"/>
          </a:gradFill>
          <a:ln xmlns:a="http://schemas.openxmlformats.org/drawingml/2006/main" w="9525">
            <a:solidFill>
              <a:srgbClr val="BFF7FF">
                <a:alpha val="5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3BDD26-1CE0-4550-BD5D-3AF40634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576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会员订阅 / 模板资产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96C9A-68C8-4C3A-8977-4D7A464A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48200"/>
            <a:ext cx="3181350" cy="666750"/>
          </a:xfrm>
          <a:prstGeom xmlns:a="http://schemas.openxmlformats.org/drawingml/2006/main" prst="trapezoid">
            <a:avLst/>
          </a:prstGeom>
          <a:gradFill xmlns:a="http://schemas.openxmlformats.org/drawingml/2006/main">
            <a:gsLst>
              <a:gs pos="0">
                <a:srgbClr val="F59E0B">
                  <a:alpha val="86000"/>
                </a:srgbClr>
              </a:gs>
              <a:gs pos="100000">
                <a:srgbClr val="12345F">
                  <a:alpha val="82000"/>
                </a:srgbClr>
              </a:gs>
            </a:gsLst>
            <a:lin ang="5400000"/>
          </a:gradFill>
          <a:ln xmlns:a="http://schemas.openxmlformats.org/drawingml/2006/main" w="9525">
            <a:solidFill>
              <a:srgbClr val="BFF7FF">
                <a:alpha val="5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4E7D8-FFCE-4617-9F9B-F50F5231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Token / 积分计费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E64716-DCF3-4624-8FA0-73212CC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BF2EE2-63B6-4CDD-890C-5D853AF2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D783A-3110-4464-806C-A212E681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Token消耗金额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0383F2-3DAE-48BE-A318-5F61B60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01A227-06DE-49C8-886D-400A880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会员订阅收入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C90DFC-8FDB-4F50-A624-84BA67A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4A0314-64B6-432C-AF00-2D9CA86E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培训课程收入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BD62BF-C47B-4A6B-ADCB-058D8DDE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61511A-2936-4691-BD5D-D14B96F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模板资产销售额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F01712-DBD8-4E58-B8FC-B6B50539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AF1FC8-5A09-4772-9CB5-BBE4F673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企业服务收入</a:t>
            </a:r>
          </a:p>
        </p:txBody>
      </p:sp>
    </p:spTree>
    <p:extLst>
      <p:ext uri="{BB962C8B-B14F-4D97-AF65-F5344CB8AC3E}">
        <p14:creationId xmlns:p14="http://schemas.microsoft.com/office/powerpoint/2010/main" val="1981296278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A0EE2-B664-434F-8A6D-842C49E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9EA18-0ADE-4D53-858A-0A918E6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FA1E8-9A0A-4FF4-BB33-99F2F39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19FED-77F0-4CA2-832B-19C1244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338C3-5790-4A93-8B60-C7321B3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B951B-505C-468F-9885-A8D7A3A5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01A8D-EF60-483A-983B-616CD8B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5DB62-AEE8-4979-9CF2-576EAB18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581C2-45D8-4B1B-9EE0-C5A34960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610BA-0D6F-44E6-8160-D4F6EF1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3702D-E66D-4D06-84C2-18D9328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69186-7CBB-4261-B5E0-A3C363C2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0FC11-0BA9-4AED-9ADF-3B9A151D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40736-133B-4F8F-AD53-DA4C266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70C61-3496-4BBC-A991-BF29AECF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00DC6-B1A8-424F-BC8F-C77857E7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9CF07-0F39-45F6-BEC7-E0BCC5AB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1DB7E-35A7-4FEA-A68F-85C36257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B8B2F-26CE-400E-A2D6-09138D12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7FF6A-6702-4171-A3EB-99CB8AE7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27DACD35-2748-4B86-8751-D39527D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E3CAC1-828D-4DE8-AA88-C14B72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E99F5-A01D-45AD-AFE4-E5C1B26F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04516-20CB-445B-9F39-9208B4A8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PPT第17页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F3963C-D046-4D40-929B-7442E916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OPC中转交易平台：剧本、资产、承制撮合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6793A2F3-29B4-4C01-9B73-66EB59AA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说明OPC如何从制作工具升级为漫剧生态中转交易平台。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0B906-6F3A-43E8-BBD2-28638D5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4F2DE-A399-4E85-98B8-0CA94F8B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31574-3C92-4C9B-AD18-4A30593C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创作者可以在平台生成和售卖剧本。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承制团队可以购买剧本或接单制作。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AI美术、分镜师、声音创作者可以出售资产和模板。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OPC从工具收入升级为交易佣金和生态服务收入。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EABCE3-CEAB-404E-A933-4EECF854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交易网络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B3F148-831F-45AF-83AD-2046324C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552825"/>
            <a:ext cx="1638300" cy="16383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2D3EE">
                  <a:alpha val="40000"/>
                </a:srgbClr>
              </a:gs>
              <a:gs pos="62000">
                <a:srgbClr val="2563EB">
                  <a:alpha val="14000"/>
                </a:srgbClr>
              </a:gs>
              <a:gs pos="10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9C6B39-9A2B-47DF-85AC-48778CD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52875"/>
            <a:ext cx="1104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51BE61-D7F6-4ED5-A4E7-72F73BAB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0" cy="-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D3EE">
                <a:alpha val="65000"/>
              </a:srgbClr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896F50-88CA-4EBE-983E-FACDC3F1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57475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22D3EE">
                <a:alpha val="78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C6B993-02FB-4674-AB25-D557B1C9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717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创作者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4346C-80A5-4CFD-B762-4DCE226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1358822" cy="-4415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4D399">
                <a:alpha val="65000"/>
              </a:srgbClr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DE5F1-E897-44CC-8C5E-4D5B68EE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697" y="3644717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34D399">
                <a:alpha val="78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73B7D8-8271-4C2B-91AE-A9A4B2A9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997" y="3759017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承制团队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BE008-A9D2-4791-B900-8F844EAA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839798" cy="1155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>
                <a:alpha val="65000"/>
              </a:srgbClr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9B4AE5-CD44-4B71-9F8E-BF25DC56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673" y="5242108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F59E0B">
                <a:alpha val="78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9EE8E8-3C44-46AF-A825-1C018F7D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973" y="5356408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资产创作者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12A586-B424-47AA-887E-757EBC11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-839798" cy="1155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78BFA">
                <a:alpha val="65000"/>
              </a:srgbClr>
            </a:solidFill>
            <a:prstDash val="dash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1FECA-5729-488B-A2DE-E6DA814A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077" y="5242108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A78BFA">
                <a:alpha val="78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A7D3FA-2F70-4E36-8B03-D0FD6AE9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377" y="5356408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品牌方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C4F391-4CE4-41B4-9D43-222549A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71975"/>
            <a:ext cx="-1358822" cy="-4415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8E3F2-F433-4B88-8D1F-4367F87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053" y="3644717"/>
            <a:ext cx="14859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2036">
              <a:alpha val="92000"/>
            </a:srgbClr>
          </a:solidFill>
          <a:ln xmlns:a="http://schemas.openxmlformats.org/drawingml/2006/main" w="9525">
            <a:solidFill>
              <a:srgbClr val="38BDF8">
                <a:alpha val="78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4CCF62-1681-475C-AAC0-AD95236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353" y="3759017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0FBFF"/>
                </a:solidFill>
                <a:latin typeface="PingFang SC"/>
                <a:ea typeface="PingFang SC"/>
                <a:cs typeface="PingFang SC"/>
              </a:rPr>
              <a:t>OPC平台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F7DEF6-847C-424E-A41C-69CE39E1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3A9D0A-FE06-4B3C-876E-105D08BD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A62AAB-F091-45F5-9146-E7D13279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上架剧本数量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414979-4F48-4DAD-929B-BB8D09B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63940D-FC0A-47E3-8035-5F392DEC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剧本交易金额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AFAE07-D25C-4CB5-B8D1-1A45BF8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935DCE-B722-478E-ABE6-2A396900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模板资产交易额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116E68-BBB4-4D46-AFE7-5DCBD093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45EE02-12A3-42DF-A89B-74425673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承制撮合订单数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6656DB-9DE4-41AB-B88E-4954903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867400"/>
            <a:ext cx="211836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3CA0A2-99A7-437B-9CA8-D92C376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5953125"/>
            <a:ext cx="19278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平台交易佣金收入</a:t>
            </a:r>
          </a:p>
        </p:txBody>
      </p:sp>
    </p:spTree>
    <p:extLst>
      <p:ext uri="{BB962C8B-B14F-4D97-AF65-F5344CB8AC3E}">
        <p14:creationId xmlns:p14="http://schemas.microsoft.com/office/powerpoint/2010/main" val="418603457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E6C5F5-A77A-4A98-A100-D147D992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B363D-0D03-4D79-84C9-01E4A1BC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77BDA-A036-4158-97DD-0C25D405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C9EC3-97B6-4C3A-A383-512A287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A9BEE-D9B4-41AC-B871-BEFF872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AA9A1-D566-4832-B347-865B60CE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4D684-5634-4E4C-8DC4-998F3462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D2ADC-9B10-47A6-AB69-5C3A5225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71A00-43F7-406A-B004-07AB3F2E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4876E-39DF-42C8-AB5A-364C755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654AA-9930-47BC-B8DF-6219B37B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4757-279B-455C-8A05-0F966D38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23B73-AC15-47A2-A84E-00D9E74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4F99B-CE8F-441D-9AD4-CB453C42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C37EC-34CE-4C38-B23D-4415F97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D676E-B800-426F-B957-2507E4AA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80CFD-8A9B-4716-9C07-8AACBDE0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152A9-0BDD-449D-B43D-076D0E4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DC41B-2171-4259-B210-345DE1B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CC49A-BCBB-4974-8700-4C744E5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99C49EA1-43A7-481F-823D-6D2D8623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57FEA1-883A-404E-AFFC-3C3B2E62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5524C-85BB-46E0-B127-52E7410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BE429-42C1-4896-B5AC-43EAA29C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PPT第18页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DAB044-99FD-416E-9FDB-22A9EA8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路线图与指标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17A6E133-CA4A-4B2C-A105-D51DA898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给出项目阶段推进路径和判断是否继续加码的指标。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E6F6E-EBA4-43EC-A027-5870EF39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83BEB7-7D0A-4D0B-B684-EF5CE2D1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DB6D8C-4774-4913-BEC1-23C4E0F0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0-3个月：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AI漫剧样片验证，跑通内容闭环。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3-6个月：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OPC制作平台P0，内部生产提效。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6-12个月：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开放创作者工具，启动Token、培训、模板收费。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12-18个月：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建设剧本、资产、承制撮合交易平台。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42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18个月后：</a:t>
            </a:r>
            <a:r>
              <a:rPr sz="142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探索数字人、APP开发、跨境选品等OPC产品聚合。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B6CE51-ACF8-4C35-8459-810A3F9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流程 / 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07B450-CD4C-4607-91EC-5A82F48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965D7-6C1F-49D6-92E4-AE8D9AF2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37BE08-57AA-4093-82AE-7C81781E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M0-M3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8F7CB3-0A66-454C-871C-CCB2633B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43AF2E-30F4-4608-AF4E-01905E73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D4B989-F882-4B76-B550-A4DFB761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9DFCDE-0524-4D95-9D59-D326FE8A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M3-M6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FF0FA1-E720-4C88-8B3A-B8AF76F5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22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5F355-72D8-46EA-B753-ECC3DD9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7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051E9B-4793-4633-AD94-F486D63D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9A07F9-1887-49F4-9536-F465045D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97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M6-M12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9F1C9-DE85-4F20-888D-9A63DD9F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93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C160C9-D394-46C0-9E0B-D21CF594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45C97B-F1A3-49B6-9E63-5819952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88C001-DAD6-4AEE-BDEA-CD508393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68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M12-M18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649DC0-742C-40D8-A810-83F62256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356235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2726FF-3A00-420F-AEBD-20EB8EB5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3162300"/>
            <a:ext cx="956310" cy="990600"/>
          </a:xfrm>
          <a:prstGeom xmlns:a="http://schemas.openxmlformats.org/drawingml/2006/main" prst="roundRect">
            <a:avLst>
              <a:gd name="adj" fmla="val 1792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38BDF8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BEEB4B-CD98-47B7-A9D5-B771413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276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845F68-4479-45B4-AA16-DD1AD14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3562350"/>
            <a:ext cx="72771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M18+。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A8AD13-5474-4F7A-9AC1-AD8D1E11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4D85A0-90CF-43F3-8CE0-335272ED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4859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598F53-0F56-4165-96BA-0B77D487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样片数量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B1F847-B3CC-43C4-8021-166E9A5D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67400"/>
            <a:ext cx="14859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FE5100-C3CE-4911-A911-226AD8F2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531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内容投放ROI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227FF3-C9C2-4857-B9F6-37FA4688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67400"/>
            <a:ext cx="14859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B17969-45D1-427A-B517-58B29C8C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9531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平台活跃用户数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821224-7D6F-4E10-8617-7594E826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67400"/>
            <a:ext cx="14859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62303C-E64A-4C97-9047-45567BFE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9531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Token收入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F4ABF0-EC98-403E-AC4D-208A0A6D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67400"/>
            <a:ext cx="14859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FC5C95-D958-453C-9F90-F2DA7613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9531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培训收入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648AF5-884D-4029-9D27-DECA56B9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67400"/>
            <a:ext cx="14859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F472B6">
                <a:alpha val="75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DA7E31-2C9C-491C-8DE2-DC324A0D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9531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交易额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A8B07B-D883-4107-8627-994B57B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67400"/>
            <a:ext cx="14859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4ADE80">
                <a:alpha val="75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5779CC-4D40-411A-951C-0D96960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531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企业客户数</a:t>
            </a:r>
          </a:p>
        </p:txBody>
      </p:sp>
    </p:spTree>
    <p:extLst>
      <p:ext uri="{BB962C8B-B14F-4D97-AF65-F5344CB8AC3E}">
        <p14:creationId xmlns:p14="http://schemas.microsoft.com/office/powerpoint/2010/main" val="1590550879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471B9D-6D8C-4E96-AB6B-40C578CD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724FC-2929-4838-891D-AC687C3C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95F51-A275-418A-82A7-AB0C485B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3681C-A7E7-44A1-9302-ABEA4A0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4FB97-1444-493C-BC2E-C9414632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5AD5B-EDB9-411B-94C1-252B0C24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FB294-38D8-490C-A560-D3661B00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051B8-0881-4F3C-9174-A550C77C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3497F-18CA-48DF-A4DF-C7A412E0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76211-3826-45ED-B061-D710CF4D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F1110-071E-49FF-B5E4-F8D09B9B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7196E-0C26-43F4-AB1C-6528586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83E28-54B8-4996-8F26-08F8A9F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CDD35-737B-4C72-83E1-FE3012EB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5CFFB-13BB-4422-B93E-05C44DBE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1C823-309E-4DE5-ADF4-1D331D43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EC814-6A3D-45BA-AAB5-6271E70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994A7-3EBC-4AAE-A81D-6B9DE881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3E78E-4C29-4634-9495-16413654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F1D2E-3A0F-4406-B213-CCE5503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5A15A095-0AED-4838-B013-B418319E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AI漫剧内容业务 + OPC线上制作平台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051CAA-F6F3-4BF7-B845-010A8E08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D541C-EBCC-423B-A8A6-E4B3CC64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4A9F0-E0E6-4472-AD43-38B76A7E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PPT第19页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FA1C30-57F0-4321-8BA5-03CDD1F0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OPC产品聚合：从漫剧平台到多场景AI产品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6EC361D3-DA87-4110-B39D-948CD89E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说明OPC的长期延伸方向：当前核心是线上AI漫剧制作平台，先服务剧本创作、漫剧生产、投放和商业化；当平台底座成熟后，再延伸到数字人、APP开发、跨境选品等多场景AI产品。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FDE06-6AC8-4590-A7C8-1F94918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可上屏文案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EB91E-401C-4A86-BBFF-72177AAA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143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827">
              <a:alpha val="76000"/>
            </a:srgbClr>
          </a:solidFill>
          <a:ln xmlns:a="http://schemas.openxmlformats.org/drawingml/2006/main" w="9525">
            <a:solidFill>
              <a:srgbClr val="164E63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46E08-7D62-4B43-AB7A-52AE1962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24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当前核心：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OPC先做线上AI漫剧制作平台。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近期变现：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Token、培训、模板、资产、剧本交易、承制撮合。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中期生态：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从制作工具升级为漫剧创作者与承制交易平台。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8"/>
              </a:spcAft>
              <a:buNone/>
              <a:defRPr sz="1575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长期延伸：</a:t>
            </a:r>
            <a:r>
              <a:rPr sz="1575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数字人、APP开发、跨境选品等多场景AI产品聚合。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AFE8E7-39DA-4B51-B76F-51B237E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三阶段延伸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408CA-1FC8-4F2D-89DE-1DF0E1C5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22D3EE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7B75F-3C33-42C4-AA84-F94C2E3E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AI漫剧制作工具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A3031C-8E20-4819-A66A-583FE6D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剧本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分镜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成片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投放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7911E6-1285-4B59-811B-4EB9CD0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1B30">
              <a:alpha val="88000"/>
            </a:srgbClr>
          </a:solidFill>
          <a:ln xmlns:a="http://schemas.openxmlformats.org/drawingml/2006/main" w="9525">
            <a:solidFill>
              <a:srgbClr val="34D399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6A3A8E-0470-4AFF-8AE4-3B78C69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漫剧生态交易平台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F72853-F90C-404D-918C-A8842EB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培训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模板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资产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承制撮合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6550CF-1618-46E8-8446-097F898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67050"/>
            <a:ext cx="1682750" cy="1876425"/>
          </a:xfrm>
          <a:prstGeom xmlns:a="http://schemas.openxmlformats.org/drawingml/2006/main" prst="roundRect">
            <a:avLst>
              <a:gd name="adj" fmla="val 10189"/>
            </a:avLst>
          </a:prstGeom>
          <a:solidFill xmlns:a="http://schemas.openxmlformats.org/drawingml/2006/main">
            <a:srgbClr val="0D2433">
              <a:alpha val="88000"/>
            </a:srgbClr>
          </a:solidFill>
          <a:ln xmlns:a="http://schemas.openxmlformats.org/drawingml/2006/main" w="9525">
            <a:solidFill>
              <a:srgbClr val="F59E0B">
                <a:alpha val="7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A49745-7D36-4DDB-B29C-03398FF1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238500"/>
            <a:ext cx="133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OPC产品聚合平台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9E45A-37A9-4DDF-85AC-BA3941E3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3638550"/>
            <a:ext cx="12636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数字人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APP开发</a:t>
            </a:r>
          </a:p>
          <a:p xmlns:a="http://schemas.openxmlformats.org/drawingml/2006/main">
            <a:pPr marL="18" indent="-10" algn="l">
              <a:lnSpc>
                <a:spcPct val="104000"/>
              </a:lnSpc>
              <a:spcAft>
                <a:spcPts val="5"/>
              </a:spcAft>
              <a:buNone/>
              <a:defRPr sz="1200" b="0">
                <a:solidFill>
                  <a:srgbClr val="E5F4FF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E5F4FF"/>
                </a:solidFill>
                <a:latin typeface="PingFang SC"/>
                <a:ea typeface="PingFang SC"/>
                <a:cs typeface="PingFang SC"/>
              </a:rPr>
              <a:t>跨境选品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1199CA-552E-425E-977D-C04438A6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3D7DF4-A2E8-426C-98EC-1744C99F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C60556-D2A8-4734-807F-DD4777A8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AI漫剧项目完成数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EE666B-79FA-46C7-8F10-E9C2F7A2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06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235EEE-D187-4D33-B995-2641B805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356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平台Token消耗金额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B91327-DEC3-4A2F-AB91-E23364C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12AA59-61F1-490F-946A-4D08BAA3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培训课程收入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39EEDE-01CC-4CED-B7DB-29C8CE4D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119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79B803-4776-43A3-81E5-6DC574B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369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模板/资产交易额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48A4B4-D975-4B95-9B58-F3B5A445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203B3C-4171-4614-9B6E-EBF429B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剧本交易数量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D31175-932C-47B7-BCB9-D7BAA0D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131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F472B6">
                <a:alpha val="7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914622-5748-4E77-B736-85A04FF9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381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承制撮合订单数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6706ED-D027-4263-9A1A-04CC727E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4ADE80">
                <a:alpha val="7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94A4FD-9A64-4C5A-AE95-B79B1FB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创作者留存率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6CFB47-ECDB-4F56-8A52-AD2C8D6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87EBB1-9F8B-470A-96B7-7F74356D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394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后续新品类接入成本</a:t>
            </a:r>
          </a:p>
        </p:txBody>
      </p:sp>
    </p:spTree>
    <p:extLst>
      <p:ext uri="{BB962C8B-B14F-4D97-AF65-F5344CB8AC3E}">
        <p14:creationId xmlns:p14="http://schemas.microsoft.com/office/powerpoint/2010/main" val="13454477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F2CA0-CE8D-4169-9DC5-9691DD5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6BFD4-0903-406D-9083-537FA005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C0A96-68FC-4E8A-93CC-C67C0D42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CE723-CB32-4C67-894C-6A413FBE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1B08A-D969-4C40-A019-D05B9F97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F8E47-44FD-4367-BC40-8BB6379E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8A606-5B9F-4E36-9833-5B18D97A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4F478-249A-4227-B8A8-F8DE9602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7DFB3-C178-4964-BC18-63FD24B2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1D92E-FEB5-44A2-B0A4-4BF4F240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95DE3-520E-4072-9813-1CD56299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50DB9-9295-4E7B-ADD1-C62219E8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50144-D324-48A2-ACBD-FF38345A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42014-001D-40BD-8BFD-C9210E7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35E3A-FD21-4C14-8344-C45912E0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A7B80-494D-4DE7-8F66-A4CDEE64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35726-A8EE-45AD-902A-421C3BF4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63A33-268C-4A37-8BF4-A3AF068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5AA3B-AE10-4080-A228-CDA05D50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F895C-38F1-42DC-B171-90A219B8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DF2266F4-53FC-4416-86B9-B0446E6B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ABA1FA-7762-45FF-A0BC-6E21BF6D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DFD4F-9F35-423F-8C87-33B30FB0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5B90C-F8CC-49BF-93CC-5F52FE6C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PPT第20页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CAC4F4-2674-489A-87FB-BA06FDA8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附录A：AI漫剧生产SOP摘要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E579FF89-4284-42EF-A893-8C1AE2F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AI漫剧生产 SOP 摘要，保留 Word 原有 8 步结构。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C73061-F9E6-4132-A7C4-F548CD98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SOP主链路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06DF4-DFE8-4150-8835-C6414F4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22D3EE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C9D56-1397-4AC1-90E5-522C7535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2C02F7-DC99-4431-8C5A-68787FC2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创意输入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12C19-691A-46EA-B1CB-BFF763A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806" y="36766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CA8A4E-9A52-4804-B0BD-2725A82D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06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34D399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77D8D2-8AFC-45CD-8307-177AB12F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D3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EF6D17-76B7-46DE-8E07-1938FF7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406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剧本生成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2D6C56-211A-4A48-AA61-46F4EBB6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36766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F3EC24-82ED-404A-AC2B-457A497F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F59E0B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DE9F4-510B-4267-B7DC-46A5100F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753B09-5033-426C-BCEE-62CE7A56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资产建设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782993-10FF-4FAB-9473-62582F1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19" y="36766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A3324C-383B-431F-B25B-B118D47A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119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A78BFA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C7A454-E2CB-41F8-9891-91F03278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419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8BF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1C0ABF-FEBA-4717-8C9E-44F8F1C4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419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分镜生成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BA99FC-0CF8-45C6-9303-1EAB9025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6766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AB5563-667B-4077-AC98-83CBB65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38BDF8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80919C-70C2-47F7-8DA7-FFF23C0B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8BDF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BD0B18-6C0F-4C70-B494-9AE9E93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图片/视频生成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60CEF0-1CBF-47AF-BBA5-8890425F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831" y="36766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D1E2E1-77C7-4EE9-8C5E-1AFE462C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131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F472B6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505F6D-8CE1-4CE9-BDA0-67FF142C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31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472B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72B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AE316E-648A-446C-A212-AB2C131C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31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配音字幕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1B9917-E1D1-4805-87E6-77AEEB79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36766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FB4EA7-329F-4F94-A0A9-2002EED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8243A">
              <a:alpha val="88000"/>
            </a:srgbClr>
          </a:solidFill>
          <a:ln xmlns:a="http://schemas.openxmlformats.org/drawingml/2006/main" w="11430">
            <a:solidFill>
              <a:srgbClr val="4ADE80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CEC111-3540-47A2-900D-50E1605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4AD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4ADE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D2F676-5173-46D1-8ECC-D16D917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合成导出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C9CD2C-CE90-4F41-8D4E-3222C989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844" y="36766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>
              <a:alpha val="5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842E4C-6C1C-43CF-A1CA-B86D566B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3276600"/>
            <a:ext cx="1288256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0213B">
              <a:alpha val="86000"/>
            </a:srgbClr>
          </a:solidFill>
          <a:ln xmlns:a="http://schemas.openxmlformats.org/drawingml/2006/main" w="11430">
            <a:solidFill>
              <a:srgbClr val="FB7185">
                <a:alpha val="7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99B9F9-DB4F-4F60-B645-290CE40F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444" y="3390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B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B71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20C9DE-C242-4DB8-8411-F04D7182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444" y="3676650"/>
            <a:ext cx="105965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3FBFF"/>
                </a:solidFill>
                <a:latin typeface="PingFang SC"/>
                <a:ea typeface="PingFang SC"/>
                <a:cs typeface="PingFang SC"/>
              </a:rPr>
              <a:t>投放复盘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0A5774-914A-4754-86F0-AD4D35DD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可追踪指标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9D47FB-D7C4-441A-820B-23CC763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C45E83-6D27-42FE-AFE9-014B7010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创意输入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FCEE5B-7979-4555-82ED-264330B2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06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34D399">
                <a:alpha val="75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C859AB-61B8-4967-B528-0ED26501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356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剧本生成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7DBF4A-BD46-4111-8A7E-73E91CA9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72FABF-AB3F-4741-B46E-3CE7032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资产建设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40E074-A263-4A54-9450-5E2486BC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119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A7F874-8944-439C-85B7-9A94433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369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分镜生成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3A6767-1559-4491-8AEF-C69429E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A9A4EE-8089-4B7D-A9D9-146D9D7C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图片/视频生成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9E3948-772F-481E-B71B-2ADC9AA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131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F472B6">
                <a:alpha val="75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59285A-F366-4714-AB24-F020C81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381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配音字幕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5354A2-5F08-49B1-95A4-9D758353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E293F">
              <a:alpha val="86000"/>
            </a:srgbClr>
          </a:solidFill>
          <a:ln xmlns:a="http://schemas.openxmlformats.org/drawingml/2006/main" w="9525">
            <a:solidFill>
              <a:srgbClr val="4ADE80">
                <a:alpha val="75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0A53D0-9D7A-49BB-8B97-4E185C79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合成导出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44A3C8-09E7-4B56-9CD7-FC1C35AC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144" y="5867400"/>
            <a:ext cx="1288256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11C35">
              <a:alpha val="86000"/>
            </a:srgbClr>
          </a:solidFill>
          <a:ln xmlns:a="http://schemas.openxmlformats.org/drawingml/2006/main" w="9525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96FC39-830C-433C-A6E0-95EFF2C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394" y="5953125"/>
            <a:ext cx="109775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FF7FF"/>
                </a:solidFill>
                <a:latin typeface="PingFang SC"/>
                <a:ea typeface="PingFang SC"/>
                <a:cs typeface="PingFang SC"/>
              </a:rPr>
              <a:t>投放复盘</a:t>
            </a:r>
          </a:p>
        </p:txBody>
      </p:sp>
    </p:spTree>
    <p:extLst>
      <p:ext uri="{BB962C8B-B14F-4D97-AF65-F5344CB8AC3E}">
        <p14:creationId xmlns:p14="http://schemas.microsoft.com/office/powerpoint/2010/main" val="1810032234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98D3B-CA5A-4DE0-8103-478650CD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E9A73-EC33-476B-A8AB-D284F316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689A8-CAD1-4E6D-A54E-95C2171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D9167-8139-47B6-8DB1-20E5F4BB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B0881-C620-42BE-B844-56DB735B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BFAA2-2FB7-4FCA-B154-12DBFF44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6BF72-0F14-4486-8CB7-FAEB675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C2877-757F-48AF-885E-830F24AF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0542F-3FA9-47C2-A0E4-1527735B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FF054-C42E-43AF-8EB6-80ED8C16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E8FD9-E08A-4462-84D3-0FB668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2BADE-A6BD-4E9B-928E-33166031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8F716-C531-4171-9D65-3C88F988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B090F-B70E-4936-AA71-70B19640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73789-107C-4DEE-97FD-AF43FE3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7C18C-3281-4A10-9400-77E6641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E560E-3E13-459B-B5E6-0D21BD6B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15435-B0F0-46A3-89EB-DC3C363E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16927-28C3-4F88-8B6D-2DD1A7C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4204C-BA1F-4106-B631-F6CA24CF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E9332B5C-BD90-4202-96CA-67F67267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345EE7-A2C5-4898-ACBF-59409E63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97B77-E3CB-422D-9C7A-8F6EDB21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7F8B0-8BF6-4E9F-B3B0-38F6288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PPT第21页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28B4C7-BC5E-4B15-A062-437FCF56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附录B：OPC平台功能分期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1571AAF9-1E3E-4E7C-B767-B05FAEC4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保留 Word 附录表格结构，作为主线内容的支撑材料。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704850" y="2705100"/>
          <a:ext xmlns:a="http://schemas.openxmlformats.org/drawingml/2006/main" cx="107823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2571750"/>
                <a:gridCol w="7162800"/>
              </a:tblGrid>
              <a:tr h="4921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核心目标</a:t>
                      </a:r>
                    </a:p>
                  </a:txBody>
                  <a:tcPr marL="91440" marR="91440" marT="45720" marB="4572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关键能力</a:t>
                      </a:r>
                    </a:p>
                  </a:txBody>
                  <a:tcPr marL="91440" marR="91440" marT="45720" marB="45720">
                    <a:solidFill>
                      <a:srgbClr val="0E749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跑通AI漫剧制作闭环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剧本、分镜、资产、生成、配音字幕、合成、成本计费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支持团队化生产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多人协作、权限、版本、审批、质检、任务队列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支持平台商业化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Token、会员、模板资产、培训课程、企业版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支持生态交易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剧本交易、资产交易、模板交易、承制撮合、佣金结算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支持产品聚合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数字人、APP开发、跨境选品等后续产品线接入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60577"/>
      </p:ext>
    </p:extLst>
  </p:cSld>
</p:sld>
</file>

<file path=ppt/slides/slide2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617"/>
            </a:gs>
            <a:gs pos="58000">
              <a:srgbClr val="07182D"/>
            </a:gs>
            <a:gs pos="100000">
              <a:srgbClr val="101044"/>
            </a:gs>
          </a:gsLst>
          <a:lin ang="10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22361-B6DF-463E-B588-1B0DA25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21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1AF87-E134-4015-971A-C5C338CC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99726-FAE2-4576-8B28-AA71CE6B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78E3B-DFA5-42A5-ADD2-AD1809AE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274FA-648B-41B4-B3F2-E5FC49BA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1271D-377F-4BCF-ABF1-9133AC2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C4A52-AA2D-4B72-AC0D-B4729136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95BEF-54AD-4164-A517-1655FF7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8CD50-D434-49B2-A48E-DE2B4F28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ECFC2-7D2D-485D-86B5-95489E5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23900"/>
            <a:ext cx="0" cy="552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34650-00DA-4998-9E44-0B4F6505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9E6AE-2A41-474C-AB00-3007BD6D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BFF56-664C-46C8-A670-EC3A4F6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D2169-9F19-4E66-A7BE-81EFB827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02E98-206A-416D-ADF5-EBBA4F0D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7804F-C982-4C55-AE24-94A4D404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5EE3B-695A-4EE2-B1FD-EF7DEC89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913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123455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FBE51-75F0-4E75-B044-726D0957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A5E9">
                  <a:alpha val="28000"/>
                </a:srgbClr>
              </a:gs>
              <a:gs pos="36000">
                <a:srgbClr val="0EA5E9">
                  <a:alpha val="7000"/>
                </a:srgbClr>
              </a:gs>
              <a:gs pos="72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2A1B5-6B9B-416B-A3B4-D40217C0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C3AED">
                  <a:alpha val="22000"/>
                </a:srgbClr>
              </a:gs>
              <a:gs pos="32000">
                <a:srgbClr val="7C3AED">
                  <a:alpha val="6000"/>
                </a:srgbClr>
              </a:gs>
              <a:gs pos="70000">
                <a:srgbClr val="02061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E5373-B356-4145-846C-C2B998E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2D3EE"/>
              </a:gs>
              <a:gs pos="50000">
                <a:srgbClr val="2563EB"/>
              </a:gs>
              <a:gs pos="100000">
                <a:srgbClr val="7C3AED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deck-kicker">
            <a:extLst xmlns:a="http://schemas.openxmlformats.org/drawingml/2006/main">
              <a:ext uri="{FF2B5EF4-FFF2-40B4-BE49-F238E27FC236}">
                <a16:creationId xmlns:a16="http://schemas.microsoft.com/office/drawing/2014/main" id="{99F08799-D0E6-4AC8-951A-072C840E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7E8F9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3DBA89-BD0B-460E-98EA-17FAF49A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8D722-6E77-4FB0-A016-3AE9B655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8C5EC-D187-4863-81EA-271E4A4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PPT第22页</a:t>
            </a:r>
          </a:p>
        </p:txBody>
      </p:sp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86BE56-9635-4978-9508-A913746D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FBFF"/>
                </a:solidFill>
                <a:latin typeface="PingFang SC"/>
                <a:ea typeface="PingFang SC"/>
                <a:cs typeface="PingFang SC"/>
              </a:rPr>
              <a:t>附录C：建议商业化组合</a:t>
            </a:r>
          </a:p>
        </p:txBody>
      </p:sp>
      <p:sp>
        <p:nvSpPr>
          <p:cNvPr id="26" name="slide-purpose">
            <a:extLst xmlns:a="http://schemas.openxmlformats.org/drawingml/2006/main">
              <a:ext uri="{FF2B5EF4-FFF2-40B4-BE49-F238E27FC236}">
                <a16:creationId xmlns:a16="http://schemas.microsoft.com/office/drawing/2014/main" id="{E064A088-D885-4FD5-B75A-E1874002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7D9"/>
                </a:solidFill>
                <a:latin typeface="PingFang SC"/>
                <a:ea typeface="PingFang SC"/>
                <a:cs typeface="PingFang SC"/>
              </a:rPr>
              <a:t>保留 Word 附录表格结构，作为主线内容的支撑材料。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704850" y="2705100"/>
          <a:ext xmlns:a="http://schemas.openxmlformats.org/drawingml/2006/main" cx="107823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8305800"/>
              </a:tblGrid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业务模块</a:t>
                      </a:r>
                    </a:p>
                  </a:txBody>
                  <a:tcPr marL="91440" marR="91440" marT="45720" marB="4572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收入方式</a:t>
                      </a:r>
                    </a:p>
                  </a:txBody>
                  <a:tcPr marL="91440" marR="91440" marT="45720" marB="45720">
                    <a:solidFill>
                      <a:srgbClr val="0E7490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AI漫剧内容业务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播放分成、付费解锁、电商引流、品牌定制、代制作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OPC制作工具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Token/积分包、会员订阅、模型调用、存储、导出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漫剧培训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课程、训练营、认证、陪跑、企业内训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模板与资产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剧本模板、分镜模板、角色资产、场景资产、工作流模板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中转交易平台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剧本交易、资产交易、承制撮合、平台佣金</a:t>
                      </a:r>
                    </a:p>
                  </a:txBody>
                  <a:tcPr marL="91440" marR="91440" marT="45720" marB="45720">
                    <a:solidFill>
                      <a:srgbClr val="071A2D">
                        <a:alpha val="92000"/>
                      </a:srgbClr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后续产品聚合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DFF7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数字人、APP开发、跨境选品等新增产品线收入</a:t>
                      </a:r>
                    </a:p>
                  </a:txBody>
                  <a:tcPr marL="91440" marR="91440" marT="45720" marB="45720">
                    <a:solidFill>
                      <a:srgbClr val="0B2238">
                        <a:alpha val="9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559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2026-06-23T11:32:28.1690000Z</dcterms:created>
  <dcterms:modified xsi:type="dcterms:W3CDTF">2026-06-23T11:32:28.1690000Z</dcterms:modified>
</coreProperties>
</file>